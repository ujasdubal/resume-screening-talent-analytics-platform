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al Bold" panose="020B0704020202020204" pitchFamily="34" charset="0"/>
      <p:regular r:id="rId11"/>
      <p:bold r:id="rId12"/>
    </p:embeddedFont>
    <p:embeddedFont>
      <p:font typeface="Arial Italic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7280" y="-822960"/>
            <a:ext cx="7680960" cy="6309360"/>
            <a:chOff x="0" y="0"/>
            <a:chExt cx="10241280" cy="8412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1280" cy="8412480"/>
            </a:xfrm>
            <a:custGeom>
              <a:avLst/>
              <a:gdLst/>
              <a:ahLst/>
              <a:cxnLst/>
              <a:rect l="l" t="t" r="r" b="b"/>
              <a:pathLst>
                <a:path w="10241280" h="8412480">
                  <a:moveTo>
                    <a:pt x="0" y="8412480"/>
                  </a:moveTo>
                  <a:lnTo>
                    <a:pt x="5120640" y="0"/>
                  </a:lnTo>
                  <a:lnTo>
                    <a:pt x="10241280" y="8412480"/>
                  </a:lnTo>
                  <a:close/>
                </a:path>
              </a:pathLst>
            </a:custGeom>
            <a:solidFill>
              <a:srgbClr val="D9E4EA"/>
            </a:solidFill>
          </p:spPr>
        </p:sp>
      </p:grpSp>
      <p:grpSp>
        <p:nvGrpSpPr>
          <p:cNvPr id="4" name="Group 4"/>
          <p:cNvGrpSpPr/>
          <p:nvPr/>
        </p:nvGrpSpPr>
        <p:grpSpPr>
          <a:xfrm rot="-3600000">
            <a:off x="-1371600" y="-1097280"/>
            <a:ext cx="4389120" cy="4114800"/>
            <a:chOff x="0" y="0"/>
            <a:chExt cx="5852160" cy="548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2160" cy="5486400"/>
            </a:xfrm>
            <a:custGeom>
              <a:avLst/>
              <a:gdLst/>
              <a:ahLst/>
              <a:cxnLst/>
              <a:rect l="l" t="t" r="r" b="b"/>
              <a:pathLst>
                <a:path w="5852160" h="5486400">
                  <a:moveTo>
                    <a:pt x="0" y="5486400"/>
                  </a:moveTo>
                  <a:lnTo>
                    <a:pt x="2926080" y="0"/>
                  </a:lnTo>
                  <a:lnTo>
                    <a:pt x="5852160" y="5486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5400000">
            <a:off x="1234440" y="2194560"/>
            <a:ext cx="2743200" cy="2468880"/>
            <a:chOff x="0" y="0"/>
            <a:chExt cx="3657600" cy="329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7600" cy="3291840"/>
            </a:xfrm>
            <a:custGeom>
              <a:avLst/>
              <a:gdLst/>
              <a:ahLst/>
              <a:cxnLst/>
              <a:rect l="l" t="t" r="r" b="b"/>
              <a:pathLst>
                <a:path w="3657600" h="3291840">
                  <a:moveTo>
                    <a:pt x="0" y="3291840"/>
                  </a:moveTo>
                  <a:lnTo>
                    <a:pt x="1828800" y="0"/>
                  </a:lnTo>
                  <a:lnTo>
                    <a:pt x="3657600" y="3291840"/>
                  </a:lnTo>
                  <a:close/>
                </a:path>
              </a:pathLst>
            </a:custGeom>
            <a:solidFill>
              <a:srgbClr val="FBE0D3"/>
            </a:solidFill>
          </p:spPr>
        </p:sp>
      </p:grpSp>
      <p:grpSp>
        <p:nvGrpSpPr>
          <p:cNvPr id="8" name="Group 8"/>
          <p:cNvGrpSpPr/>
          <p:nvPr/>
        </p:nvGrpSpPr>
        <p:grpSpPr>
          <a:xfrm rot="2400000">
            <a:off x="-822960" y="3703320"/>
            <a:ext cx="3566160" cy="3017520"/>
            <a:chOff x="0" y="0"/>
            <a:chExt cx="4754880" cy="4023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54880" cy="4023360"/>
            </a:xfrm>
            <a:custGeom>
              <a:avLst/>
              <a:gdLst/>
              <a:ahLst/>
              <a:cxnLst/>
              <a:rect l="l" t="t" r="r" b="b"/>
              <a:pathLst>
                <a:path w="4754880" h="4023360">
                  <a:moveTo>
                    <a:pt x="0" y="4023360"/>
                  </a:moveTo>
                  <a:lnTo>
                    <a:pt x="2377440" y="0"/>
                  </a:lnTo>
                  <a:lnTo>
                    <a:pt x="4754880" y="4023360"/>
                  </a:lnTo>
                  <a:close/>
                </a:path>
              </a:pathLst>
            </a:custGeom>
            <a:solidFill>
              <a:srgbClr val="D9E4E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5887243" y="0"/>
            <a:ext cx="2400300" cy="8161020"/>
            <a:chOff x="0" y="0"/>
            <a:chExt cx="3200400" cy="108813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00400" cy="10881360"/>
            </a:xfrm>
            <a:custGeom>
              <a:avLst/>
              <a:gdLst/>
              <a:ahLst/>
              <a:cxnLst/>
              <a:rect l="l" t="t" r="r" b="b"/>
              <a:pathLst>
                <a:path w="3200400" h="10881360">
                  <a:moveTo>
                    <a:pt x="0" y="0"/>
                  </a:moveTo>
                  <a:lnTo>
                    <a:pt x="3200400" y="0"/>
                  </a:lnTo>
                  <a:lnTo>
                    <a:pt x="3200400" y="10881360"/>
                  </a:lnTo>
                  <a:lnTo>
                    <a:pt x="0" y="10881360"/>
                  </a:lnTo>
                  <a:close/>
                </a:path>
              </a:pathLst>
            </a:custGeom>
            <a:solidFill>
              <a:srgbClr val="2D5F7C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5475763" y="7749540"/>
            <a:ext cx="1508760" cy="1508760"/>
            <a:chOff x="0" y="0"/>
            <a:chExt cx="2011680" cy="20116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11680" cy="2011680"/>
            </a:xfrm>
            <a:custGeom>
              <a:avLst/>
              <a:gdLst/>
              <a:ahLst/>
              <a:cxnLst/>
              <a:rect l="l" t="t" r="r" b="b"/>
              <a:pathLst>
                <a:path w="2011680" h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F15A24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339871" y="3566160"/>
            <a:ext cx="1508760" cy="1508760"/>
            <a:chOff x="0" y="0"/>
            <a:chExt cx="2011680" cy="201168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2011680" cy="2011680"/>
            </a:xfrm>
            <a:custGeom>
              <a:avLst/>
              <a:gdLst/>
              <a:ahLst/>
              <a:cxnLst/>
              <a:rect l="l" t="t" r="r" b="b"/>
              <a:pathLst>
                <a:path w="2011680" h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822960" y="2948940"/>
            <a:ext cx="12344400" cy="754380"/>
            <a:chOff x="0" y="0"/>
            <a:chExt cx="16459200" cy="10058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459200" cy="1005840"/>
            </a:xfrm>
            <a:custGeom>
              <a:avLst/>
              <a:gdLst/>
              <a:ahLst/>
              <a:cxnLst/>
              <a:rect l="l" t="t" r="r" b="b"/>
              <a:pathLst>
                <a:path w="16459200" h="1005840">
                  <a:moveTo>
                    <a:pt x="0" y="0"/>
                  </a:moveTo>
                  <a:lnTo>
                    <a:pt x="16459200" y="0"/>
                  </a:lnTo>
                  <a:lnTo>
                    <a:pt x="16459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8846" b="-268846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645920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 spc="300">
                  <a:solidFill>
                    <a:srgbClr val="F15A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KDAC-2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3497580"/>
            <a:ext cx="14538960" cy="3223260"/>
            <a:chOff x="0" y="0"/>
            <a:chExt cx="19385280" cy="42976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385280" cy="4297680"/>
            </a:xfrm>
            <a:custGeom>
              <a:avLst/>
              <a:gdLst/>
              <a:ahLst/>
              <a:cxnLst/>
              <a:rect l="l" t="t" r="r" b="b"/>
              <a:pathLst>
                <a:path w="19385280" h="4297680">
                  <a:moveTo>
                    <a:pt x="0" y="0"/>
                  </a:moveTo>
                  <a:lnTo>
                    <a:pt x="19385280" y="0"/>
                  </a:lnTo>
                  <a:lnTo>
                    <a:pt x="19385280" y="4297680"/>
                  </a:lnTo>
                  <a:lnTo>
                    <a:pt x="0" y="429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7889" b="-3788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9385280" cy="4354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559"/>
                </a:lnSpc>
              </a:pPr>
              <a:r>
                <a:rPr lang="en-US" sz="60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RESUME SCREENING &amp;</a:t>
              </a:r>
            </a:p>
            <a:p>
              <a:pPr algn="l">
                <a:lnSpc>
                  <a:spcPts val="7559"/>
                </a:lnSpc>
              </a:pPr>
              <a:r>
                <a:rPr lang="en-US" sz="60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TALENT ANALYTICS PLATFORM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22960" y="6926580"/>
            <a:ext cx="11795760" cy="822960"/>
            <a:chOff x="0" y="0"/>
            <a:chExt cx="15727680" cy="10972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727680" cy="1097280"/>
            </a:xfrm>
            <a:custGeom>
              <a:avLst/>
              <a:gdLst/>
              <a:ahLst/>
              <a:cxnLst/>
              <a:rect l="l" t="t" r="r" b="b"/>
              <a:pathLst>
                <a:path w="15727680" h="1097280">
                  <a:moveTo>
                    <a:pt x="0" y="0"/>
                  </a:moveTo>
                  <a:lnTo>
                    <a:pt x="15727680" y="0"/>
                  </a:lnTo>
                  <a:lnTo>
                    <a:pt x="15727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9285" b="-229285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572768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i="1">
                  <a:solidFill>
                    <a:srgbClr val="4A4A4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Automating candidate screening with Data Analytics, Machine Learning &amp; GenAI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22960" y="8627327"/>
            <a:ext cx="8229600" cy="899201"/>
            <a:chOff x="0" y="0"/>
            <a:chExt cx="10972800" cy="119893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72800" cy="1198935"/>
            </a:xfrm>
            <a:custGeom>
              <a:avLst/>
              <a:gdLst/>
              <a:ahLst/>
              <a:cxnLst/>
              <a:rect l="l" t="t" r="r" b="b"/>
              <a:pathLst>
                <a:path w="10972800" h="1198935">
                  <a:moveTo>
                    <a:pt x="0" y="0"/>
                  </a:moveTo>
                  <a:lnTo>
                    <a:pt x="10972800" y="0"/>
                  </a:lnTo>
                  <a:lnTo>
                    <a:pt x="10972800" y="1198935"/>
                  </a:lnTo>
                  <a:lnTo>
                    <a:pt x="0" y="11989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1635" b="-105023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10972800" cy="1217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5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Name : Bit&amp;Byte</a:t>
              </a:r>
            </a:p>
            <a:p>
              <a:pPr algn="l">
                <a:lnSpc>
                  <a:spcPts val="3000"/>
                </a:lnSpc>
              </a:pPr>
              <a:r>
                <a:rPr lang="en-US" sz="25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ID : 44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7280" y="-822960"/>
            <a:ext cx="7680960" cy="6309360"/>
            <a:chOff x="0" y="0"/>
            <a:chExt cx="10241280" cy="8412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1280" cy="8412480"/>
            </a:xfrm>
            <a:custGeom>
              <a:avLst/>
              <a:gdLst/>
              <a:ahLst/>
              <a:cxnLst/>
              <a:rect l="l" t="t" r="r" b="b"/>
              <a:pathLst>
                <a:path w="10241280" h="8412480">
                  <a:moveTo>
                    <a:pt x="0" y="8412480"/>
                  </a:moveTo>
                  <a:lnTo>
                    <a:pt x="5120640" y="0"/>
                  </a:lnTo>
                  <a:lnTo>
                    <a:pt x="10241280" y="8412480"/>
                  </a:lnTo>
                  <a:close/>
                </a:path>
              </a:pathLst>
            </a:custGeom>
            <a:solidFill>
              <a:srgbClr val="D9E4EA"/>
            </a:solidFill>
          </p:spPr>
        </p:sp>
      </p:grpSp>
      <p:grpSp>
        <p:nvGrpSpPr>
          <p:cNvPr id="4" name="Group 4"/>
          <p:cNvGrpSpPr/>
          <p:nvPr/>
        </p:nvGrpSpPr>
        <p:grpSpPr>
          <a:xfrm rot="-3600000">
            <a:off x="-1371600" y="-1097280"/>
            <a:ext cx="4389120" cy="4114800"/>
            <a:chOff x="0" y="0"/>
            <a:chExt cx="5852160" cy="548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2160" cy="5486400"/>
            </a:xfrm>
            <a:custGeom>
              <a:avLst/>
              <a:gdLst/>
              <a:ahLst/>
              <a:cxnLst/>
              <a:rect l="l" t="t" r="r" b="b"/>
              <a:pathLst>
                <a:path w="5852160" h="5486400">
                  <a:moveTo>
                    <a:pt x="0" y="5486400"/>
                  </a:moveTo>
                  <a:lnTo>
                    <a:pt x="2926080" y="0"/>
                  </a:lnTo>
                  <a:lnTo>
                    <a:pt x="5852160" y="5486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5400000">
            <a:off x="1234440" y="2194560"/>
            <a:ext cx="2743200" cy="2468880"/>
            <a:chOff x="0" y="0"/>
            <a:chExt cx="3657600" cy="329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7600" cy="3291840"/>
            </a:xfrm>
            <a:custGeom>
              <a:avLst/>
              <a:gdLst/>
              <a:ahLst/>
              <a:cxnLst/>
              <a:rect l="l" t="t" r="r" b="b"/>
              <a:pathLst>
                <a:path w="3657600" h="3291840">
                  <a:moveTo>
                    <a:pt x="0" y="3291840"/>
                  </a:moveTo>
                  <a:lnTo>
                    <a:pt x="1828800" y="0"/>
                  </a:lnTo>
                  <a:lnTo>
                    <a:pt x="3657600" y="3291840"/>
                  </a:lnTo>
                  <a:close/>
                </a:path>
              </a:pathLst>
            </a:custGeom>
            <a:solidFill>
              <a:srgbClr val="FBE0D3"/>
            </a:solidFill>
          </p:spPr>
        </p:sp>
      </p:grpSp>
      <p:grpSp>
        <p:nvGrpSpPr>
          <p:cNvPr id="8" name="Group 8"/>
          <p:cNvGrpSpPr/>
          <p:nvPr/>
        </p:nvGrpSpPr>
        <p:grpSpPr>
          <a:xfrm rot="2400000">
            <a:off x="-822960" y="3703320"/>
            <a:ext cx="3566160" cy="3017520"/>
            <a:chOff x="0" y="0"/>
            <a:chExt cx="4754880" cy="4023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54880" cy="4023360"/>
            </a:xfrm>
            <a:custGeom>
              <a:avLst/>
              <a:gdLst/>
              <a:ahLst/>
              <a:cxnLst/>
              <a:rect l="l" t="t" r="r" b="b"/>
              <a:pathLst>
                <a:path w="4754880" h="4023360">
                  <a:moveTo>
                    <a:pt x="0" y="4023360"/>
                  </a:moveTo>
                  <a:lnTo>
                    <a:pt x="2377440" y="0"/>
                  </a:lnTo>
                  <a:lnTo>
                    <a:pt x="4754880" y="4023360"/>
                  </a:lnTo>
                  <a:close/>
                </a:path>
              </a:pathLst>
            </a:custGeom>
            <a:solidFill>
              <a:srgbClr val="D9E4E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2827020" y="8066449"/>
            <a:ext cx="5433060" cy="5433060"/>
            <a:chOff x="0" y="0"/>
            <a:chExt cx="7244080" cy="7244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244080" cy="7244080"/>
            </a:xfrm>
            <a:custGeom>
              <a:avLst/>
              <a:gdLst/>
              <a:ahLst/>
              <a:cxnLst/>
              <a:rect l="l" t="t" r="r" b="b"/>
              <a:pathLst>
                <a:path w="7244080" h="7244080">
                  <a:moveTo>
                    <a:pt x="0" y="3622040"/>
                  </a:moveTo>
                  <a:cubicBezTo>
                    <a:pt x="0" y="1621663"/>
                    <a:pt x="1621663" y="0"/>
                    <a:pt x="3622040" y="0"/>
                  </a:cubicBezTo>
                  <a:cubicBezTo>
                    <a:pt x="5622417" y="0"/>
                    <a:pt x="7244080" y="1621663"/>
                    <a:pt x="7244080" y="3622040"/>
                  </a:cubicBezTo>
                  <a:cubicBezTo>
                    <a:pt x="7244080" y="5622417"/>
                    <a:pt x="5622417" y="7244080"/>
                    <a:pt x="3622040" y="7244080"/>
                  </a:cubicBezTo>
                  <a:cubicBezTo>
                    <a:pt x="1621663" y="7244080"/>
                    <a:pt x="0" y="5622417"/>
                    <a:pt x="0" y="362204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  <a:ln w="495300" cap="sq">
              <a:solidFill>
                <a:srgbClr val="F15A24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22960" y="576072"/>
            <a:ext cx="10972800" cy="480060"/>
            <a:chOff x="0" y="0"/>
            <a:chExt cx="14630400" cy="6400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F15A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CHALLENGE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2960" y="1028700"/>
            <a:ext cx="11795760" cy="2057400"/>
            <a:chOff x="0" y="0"/>
            <a:chExt cx="15727680" cy="2743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727680" cy="2743200"/>
            </a:xfrm>
            <a:custGeom>
              <a:avLst/>
              <a:gdLst/>
              <a:ahLst/>
              <a:cxnLst/>
              <a:rect l="l" t="t" r="r" b="b"/>
              <a:pathLst>
                <a:path w="15727680" h="2743200">
                  <a:moveTo>
                    <a:pt x="0" y="0"/>
                  </a:moveTo>
                  <a:lnTo>
                    <a:pt x="15727680" y="0"/>
                  </a:lnTo>
                  <a:lnTo>
                    <a:pt x="157276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714" b="-61714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5727680" cy="2762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761"/>
                </a:lnSpc>
              </a:pPr>
              <a:r>
                <a:rPr lang="en-US" sz="66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</a:t>
              </a:r>
            </a:p>
            <a:p>
              <a:pPr algn="l">
                <a:lnSpc>
                  <a:spcPts val="7761"/>
                </a:lnSpc>
              </a:pPr>
              <a:r>
                <a:rPr lang="en-US" sz="66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STATEMENT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22960" y="4869180"/>
            <a:ext cx="960120" cy="960120"/>
            <a:chOff x="0" y="0"/>
            <a:chExt cx="1280160" cy="12801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5F7C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028700" y="5074920"/>
            <a:ext cx="548640" cy="548640"/>
            <a:chOff x="0" y="0"/>
            <a:chExt cx="731520" cy="73152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822960" y="6035040"/>
            <a:ext cx="5417820" cy="557752"/>
            <a:chOff x="0" y="0"/>
            <a:chExt cx="7223760" cy="743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23760" cy="743669"/>
            </a:xfrm>
            <a:custGeom>
              <a:avLst/>
              <a:gdLst/>
              <a:ahLst/>
              <a:cxnLst/>
              <a:rect l="l" t="t" r="r" b="b"/>
              <a:pathLst>
                <a:path w="7223760" h="743669">
                  <a:moveTo>
                    <a:pt x="0" y="0"/>
                  </a:moveTo>
                  <a:lnTo>
                    <a:pt x="7223760" y="0"/>
                  </a:lnTo>
                  <a:lnTo>
                    <a:pt x="7223760" y="743669"/>
                  </a:lnTo>
                  <a:lnTo>
                    <a:pt x="0" y="743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088" b="-138454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7223760" cy="762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High Volume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22960" y="6611112"/>
            <a:ext cx="5417820" cy="2057400"/>
            <a:chOff x="0" y="0"/>
            <a:chExt cx="7223760" cy="2743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223760" cy="2743200"/>
            </a:xfrm>
            <a:custGeom>
              <a:avLst/>
              <a:gdLst/>
              <a:ahLst/>
              <a:cxnLst/>
              <a:rect l="l" t="t" r="r" b="b"/>
              <a:pathLst>
                <a:path w="7223760" h="2743200">
                  <a:moveTo>
                    <a:pt x="0" y="0"/>
                  </a:moveTo>
                  <a:lnTo>
                    <a:pt x="7223760" y="0"/>
                  </a:lnTo>
                  <a:lnTo>
                    <a:pt x="722376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0" b="-131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7223760" cy="2800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399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Recruiters receive hundreds to thousands of resumes per role — manual review is slow and inconsistent.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20840" y="4869180"/>
            <a:ext cx="960120" cy="960120"/>
            <a:chOff x="0" y="0"/>
            <a:chExt cx="1280160" cy="12801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5F7C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6926580" y="5074920"/>
            <a:ext cx="548640" cy="548640"/>
            <a:chOff x="0" y="0"/>
            <a:chExt cx="731520" cy="731520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6720840" y="6035040"/>
            <a:ext cx="5417820" cy="548640"/>
            <a:chOff x="0" y="0"/>
            <a:chExt cx="7223760" cy="7315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223760" cy="731520"/>
            </a:xfrm>
            <a:custGeom>
              <a:avLst/>
              <a:gdLst/>
              <a:ahLst/>
              <a:cxnLst/>
              <a:rect l="l" t="t" r="r" b="b"/>
              <a:pathLst>
                <a:path w="7223760" h="731520">
                  <a:moveTo>
                    <a:pt x="0" y="0"/>
                  </a:moveTo>
                  <a:lnTo>
                    <a:pt x="7223760" y="0"/>
                  </a:lnTo>
                  <a:lnTo>
                    <a:pt x="722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414" b="-142414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722376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Human Bias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20840" y="6611112"/>
            <a:ext cx="5417820" cy="2057400"/>
            <a:chOff x="0" y="0"/>
            <a:chExt cx="7223760" cy="2743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223760" cy="2743200"/>
            </a:xfrm>
            <a:custGeom>
              <a:avLst/>
              <a:gdLst/>
              <a:ahLst/>
              <a:cxnLst/>
              <a:rect l="l" t="t" r="r" b="b"/>
              <a:pathLst>
                <a:path w="7223760" h="2743200">
                  <a:moveTo>
                    <a:pt x="0" y="0"/>
                  </a:moveTo>
                  <a:lnTo>
                    <a:pt x="7223760" y="0"/>
                  </a:lnTo>
                  <a:lnTo>
                    <a:pt x="722376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0" b="-131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7223760" cy="2800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399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Subjective, inconsistent shortlisting criteria across reviewers causes qualified candidates to be overlooked.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618720" y="4869180"/>
            <a:ext cx="960120" cy="960120"/>
            <a:chOff x="0" y="0"/>
            <a:chExt cx="1280160" cy="128016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5F7C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2824460" y="5074920"/>
            <a:ext cx="548640" cy="548640"/>
            <a:chOff x="0" y="0"/>
            <a:chExt cx="731520" cy="731520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2618720" y="6035040"/>
            <a:ext cx="5417820" cy="548640"/>
            <a:chOff x="0" y="0"/>
            <a:chExt cx="7223760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223760" cy="731520"/>
            </a:xfrm>
            <a:custGeom>
              <a:avLst/>
              <a:gdLst/>
              <a:ahLst/>
              <a:cxnLst/>
              <a:rect l="l" t="t" r="r" b="b"/>
              <a:pathLst>
                <a:path w="7223760" h="731520">
                  <a:moveTo>
                    <a:pt x="0" y="0"/>
                  </a:moveTo>
                  <a:lnTo>
                    <a:pt x="7223760" y="0"/>
                  </a:lnTo>
                  <a:lnTo>
                    <a:pt x="722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414" b="-142414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722376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 Visibility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618720" y="6634651"/>
            <a:ext cx="5417820" cy="1682496"/>
            <a:chOff x="0" y="0"/>
            <a:chExt cx="7223760" cy="224332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223760" cy="2243328"/>
            </a:xfrm>
            <a:custGeom>
              <a:avLst/>
              <a:gdLst/>
              <a:ahLst/>
              <a:cxnLst/>
              <a:rect l="l" t="t" r="r" b="b"/>
              <a:pathLst>
                <a:path w="7223760" h="2243328">
                  <a:moveTo>
                    <a:pt x="0" y="0"/>
                  </a:moveTo>
                  <a:lnTo>
                    <a:pt x="7223760" y="0"/>
                  </a:lnTo>
                  <a:lnTo>
                    <a:pt x="722376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2" b="-2388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7223760" cy="23004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399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Recruiting teams lack analytics on talent pool quality, skill gaps, and pipeline health.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22959" y="3634740"/>
            <a:ext cx="16230143" cy="1028700"/>
            <a:chOff x="0" y="0"/>
            <a:chExt cx="15910560" cy="13716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5910561" cy="1371600"/>
            </a:xfrm>
            <a:custGeom>
              <a:avLst/>
              <a:gdLst/>
              <a:ahLst/>
              <a:cxnLst/>
              <a:rect l="l" t="t" r="r" b="b"/>
              <a:pathLst>
                <a:path w="15910561" h="1371600">
                  <a:moveTo>
                    <a:pt x="0" y="0"/>
                  </a:moveTo>
                  <a:lnTo>
                    <a:pt x="15910561" y="0"/>
                  </a:lnTo>
                  <a:lnTo>
                    <a:pt x="15910561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6026" b="-17602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57150"/>
              <a:ext cx="15910560" cy="1428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400" i="1" dirty="0">
                  <a:solidFill>
                    <a:srgbClr val="1F4457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Goal: Build an automated, explainable and data-driven platform that parses resumes, ranks candidates against a job description, explains the ranking, and provides talent-pool analytics.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A7A7A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7280" y="-822960"/>
            <a:ext cx="7680960" cy="6309360"/>
            <a:chOff x="0" y="0"/>
            <a:chExt cx="10241280" cy="8412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1280" cy="8412480"/>
            </a:xfrm>
            <a:custGeom>
              <a:avLst/>
              <a:gdLst/>
              <a:ahLst/>
              <a:cxnLst/>
              <a:rect l="l" t="t" r="r" b="b"/>
              <a:pathLst>
                <a:path w="10241280" h="8412480">
                  <a:moveTo>
                    <a:pt x="0" y="8412480"/>
                  </a:moveTo>
                  <a:lnTo>
                    <a:pt x="5120640" y="0"/>
                  </a:lnTo>
                  <a:lnTo>
                    <a:pt x="10241280" y="8412480"/>
                  </a:lnTo>
                  <a:close/>
                </a:path>
              </a:pathLst>
            </a:custGeom>
            <a:solidFill>
              <a:srgbClr val="D9E4EA"/>
            </a:solidFill>
          </p:spPr>
        </p:sp>
      </p:grpSp>
      <p:grpSp>
        <p:nvGrpSpPr>
          <p:cNvPr id="4" name="Group 4"/>
          <p:cNvGrpSpPr/>
          <p:nvPr/>
        </p:nvGrpSpPr>
        <p:grpSpPr>
          <a:xfrm rot="-3600000">
            <a:off x="-1371600" y="-1097280"/>
            <a:ext cx="4389120" cy="4114800"/>
            <a:chOff x="0" y="0"/>
            <a:chExt cx="5852160" cy="548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2160" cy="5486400"/>
            </a:xfrm>
            <a:custGeom>
              <a:avLst/>
              <a:gdLst/>
              <a:ahLst/>
              <a:cxnLst/>
              <a:rect l="l" t="t" r="r" b="b"/>
              <a:pathLst>
                <a:path w="5852160" h="5486400">
                  <a:moveTo>
                    <a:pt x="0" y="5486400"/>
                  </a:moveTo>
                  <a:lnTo>
                    <a:pt x="2926080" y="0"/>
                  </a:lnTo>
                  <a:lnTo>
                    <a:pt x="5852160" y="5486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5400000">
            <a:off x="1234440" y="2194560"/>
            <a:ext cx="2743200" cy="2468880"/>
            <a:chOff x="0" y="0"/>
            <a:chExt cx="3657600" cy="329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7600" cy="3291840"/>
            </a:xfrm>
            <a:custGeom>
              <a:avLst/>
              <a:gdLst/>
              <a:ahLst/>
              <a:cxnLst/>
              <a:rect l="l" t="t" r="r" b="b"/>
              <a:pathLst>
                <a:path w="3657600" h="3291840">
                  <a:moveTo>
                    <a:pt x="0" y="3291840"/>
                  </a:moveTo>
                  <a:lnTo>
                    <a:pt x="1828800" y="0"/>
                  </a:lnTo>
                  <a:lnTo>
                    <a:pt x="3657600" y="3291840"/>
                  </a:lnTo>
                  <a:close/>
                </a:path>
              </a:pathLst>
            </a:custGeom>
            <a:solidFill>
              <a:srgbClr val="FBE0D3"/>
            </a:solidFill>
          </p:spPr>
        </p:sp>
      </p:grpSp>
      <p:grpSp>
        <p:nvGrpSpPr>
          <p:cNvPr id="8" name="Group 8"/>
          <p:cNvGrpSpPr/>
          <p:nvPr/>
        </p:nvGrpSpPr>
        <p:grpSpPr>
          <a:xfrm rot="2400000">
            <a:off x="-822960" y="3703320"/>
            <a:ext cx="3566160" cy="3017520"/>
            <a:chOff x="0" y="0"/>
            <a:chExt cx="4754880" cy="4023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54880" cy="4023360"/>
            </a:xfrm>
            <a:custGeom>
              <a:avLst/>
              <a:gdLst/>
              <a:ahLst/>
              <a:cxnLst/>
              <a:rect l="l" t="t" r="r" b="b"/>
              <a:pathLst>
                <a:path w="4754880" h="4023360">
                  <a:moveTo>
                    <a:pt x="0" y="4023360"/>
                  </a:moveTo>
                  <a:lnTo>
                    <a:pt x="2377440" y="0"/>
                  </a:lnTo>
                  <a:lnTo>
                    <a:pt x="4754880" y="4023360"/>
                  </a:lnTo>
                  <a:close/>
                </a:path>
              </a:pathLst>
            </a:custGeom>
            <a:solidFill>
              <a:srgbClr val="D9E4E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22960" y="576072"/>
            <a:ext cx="10972800" cy="480060"/>
            <a:chOff x="0" y="0"/>
            <a:chExt cx="146304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F15A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OUR APPROACH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2960" y="1028700"/>
            <a:ext cx="11795760" cy="1783080"/>
            <a:chOff x="0" y="0"/>
            <a:chExt cx="15727680" cy="23774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727680" cy="2377440"/>
            </a:xfrm>
            <a:custGeom>
              <a:avLst/>
              <a:gdLst/>
              <a:ahLst/>
              <a:cxnLst/>
              <a:rect l="l" t="t" r="r" b="b"/>
              <a:pathLst>
                <a:path w="15727680" h="2377440">
                  <a:moveTo>
                    <a:pt x="0" y="0"/>
                  </a:moveTo>
                  <a:lnTo>
                    <a:pt x="15727680" y="0"/>
                  </a:lnTo>
                  <a:lnTo>
                    <a:pt x="157276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901" b="-78901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5727680" cy="2386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997"/>
                </a:lnSpc>
              </a:pPr>
              <a:r>
                <a:rPr lang="en-US" sz="51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PROPOSED</a:t>
              </a:r>
            </a:p>
            <a:p>
              <a:pPr algn="l">
                <a:lnSpc>
                  <a:spcPts val="5997"/>
                </a:lnSpc>
              </a:pPr>
              <a:r>
                <a:rPr lang="en-US" sz="51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SOLUTION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" y="3360420"/>
            <a:ext cx="850392" cy="850392"/>
            <a:chOff x="0" y="0"/>
            <a:chExt cx="1133856" cy="11338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2D5F7C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822960" y="3360420"/>
            <a:ext cx="850392" cy="850392"/>
            <a:chOff x="0" y="0"/>
            <a:chExt cx="1133856" cy="11338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133856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947672" y="3264408"/>
            <a:ext cx="7338060" cy="576072"/>
            <a:chOff x="0" y="0"/>
            <a:chExt cx="9784080" cy="7680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84080" cy="768096"/>
            </a:xfrm>
            <a:custGeom>
              <a:avLst/>
              <a:gdLst/>
              <a:ahLst/>
              <a:cxnLst/>
              <a:rect l="l" t="t" r="r" b="b"/>
              <a:pathLst>
                <a:path w="9784080" h="768096">
                  <a:moveTo>
                    <a:pt x="0" y="0"/>
                  </a:moveTo>
                  <a:lnTo>
                    <a:pt x="9784080" y="0"/>
                  </a:lnTo>
                  <a:lnTo>
                    <a:pt x="9784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202" b="-19820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9784080" cy="787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 dirty="0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Resume Synthesis &amp; Augmentation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947672" y="3826764"/>
            <a:ext cx="7338060" cy="895237"/>
            <a:chOff x="0" y="0"/>
            <a:chExt cx="9784080" cy="11936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784080" cy="1193649"/>
            </a:xfrm>
            <a:custGeom>
              <a:avLst/>
              <a:gdLst/>
              <a:ahLst/>
              <a:cxnLst/>
              <a:rect l="l" t="t" r="r" b="b"/>
              <a:pathLst>
                <a:path w="9784080" h="1193649">
                  <a:moveTo>
                    <a:pt x="0" y="0"/>
                  </a:moveTo>
                  <a:lnTo>
                    <a:pt x="9784080" y="0"/>
                  </a:lnTo>
                  <a:lnTo>
                    <a:pt x="9784080" y="1193649"/>
                  </a:lnTo>
                  <a:lnTo>
                    <a:pt x="0" y="11936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921" b="-109508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9784080" cy="123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68"/>
                </a:lnSpc>
              </a:pPr>
              <a:r>
                <a:rPr lang="en-US" sz="2400" dirty="0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GenAI + templated generation of diverse synthetic resumes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2960" y="4978908"/>
            <a:ext cx="850392" cy="850392"/>
            <a:chOff x="0" y="0"/>
            <a:chExt cx="1133856" cy="113385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15A24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822960" y="4978908"/>
            <a:ext cx="850392" cy="850392"/>
            <a:chOff x="0" y="0"/>
            <a:chExt cx="1133856" cy="113385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1133856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947672" y="4882896"/>
            <a:ext cx="7338060" cy="576072"/>
            <a:chOff x="0" y="0"/>
            <a:chExt cx="9784080" cy="7680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784080" cy="768096"/>
            </a:xfrm>
            <a:custGeom>
              <a:avLst/>
              <a:gdLst/>
              <a:ahLst/>
              <a:cxnLst/>
              <a:rect l="l" t="t" r="r" b="b"/>
              <a:pathLst>
                <a:path w="9784080" h="768096">
                  <a:moveTo>
                    <a:pt x="0" y="0"/>
                  </a:moveTo>
                  <a:lnTo>
                    <a:pt x="9784080" y="0"/>
                  </a:lnTo>
                  <a:lnTo>
                    <a:pt x="9784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202" b="-19820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9784080" cy="787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Warehouse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947672" y="5445252"/>
            <a:ext cx="7338060" cy="895237"/>
            <a:chOff x="0" y="0"/>
            <a:chExt cx="9784080" cy="119364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784080" cy="1193649"/>
            </a:xfrm>
            <a:custGeom>
              <a:avLst/>
              <a:gdLst/>
              <a:ahLst/>
              <a:cxnLst/>
              <a:rect l="l" t="t" r="r" b="b"/>
              <a:pathLst>
                <a:path w="9784080" h="1193649">
                  <a:moveTo>
                    <a:pt x="0" y="0"/>
                  </a:moveTo>
                  <a:lnTo>
                    <a:pt x="9784080" y="0"/>
                  </a:lnTo>
                  <a:lnTo>
                    <a:pt x="9784080" y="1193649"/>
                  </a:lnTo>
                  <a:lnTo>
                    <a:pt x="0" y="11936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921" b="-109508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9784080" cy="123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68"/>
                </a:lnSpc>
              </a:pPr>
              <a:r>
                <a:rPr lang="en-US" sz="2400" dirty="0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Star schema — fact table + candidate, job, skill, time dimensions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2960" y="6597396"/>
            <a:ext cx="850392" cy="850392"/>
            <a:chOff x="0" y="0"/>
            <a:chExt cx="1133856" cy="113385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2D5F7C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822960" y="6597396"/>
            <a:ext cx="850392" cy="850392"/>
            <a:chOff x="0" y="0"/>
            <a:chExt cx="1133856" cy="113385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1133856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947672" y="6501384"/>
            <a:ext cx="7338060" cy="576072"/>
            <a:chOff x="0" y="0"/>
            <a:chExt cx="9784080" cy="76809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784080" cy="768096"/>
            </a:xfrm>
            <a:custGeom>
              <a:avLst/>
              <a:gdLst/>
              <a:ahLst/>
              <a:cxnLst/>
              <a:rect l="l" t="t" r="r" b="b"/>
              <a:pathLst>
                <a:path w="9784080" h="768096">
                  <a:moveTo>
                    <a:pt x="0" y="0"/>
                  </a:moveTo>
                  <a:lnTo>
                    <a:pt x="9784080" y="0"/>
                  </a:lnTo>
                  <a:lnTo>
                    <a:pt x="9784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202" b="-198202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9784080" cy="787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ETL Pipeline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947672" y="7063740"/>
            <a:ext cx="7338060" cy="895237"/>
            <a:chOff x="0" y="0"/>
            <a:chExt cx="9784080" cy="119364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784080" cy="1193649"/>
            </a:xfrm>
            <a:custGeom>
              <a:avLst/>
              <a:gdLst/>
              <a:ahLst/>
              <a:cxnLst/>
              <a:rect l="l" t="t" r="r" b="b"/>
              <a:pathLst>
                <a:path w="9784080" h="1193649">
                  <a:moveTo>
                    <a:pt x="0" y="0"/>
                  </a:moveTo>
                  <a:lnTo>
                    <a:pt x="9784080" y="0"/>
                  </a:lnTo>
                  <a:lnTo>
                    <a:pt x="9784080" y="1193649"/>
                  </a:lnTo>
                  <a:lnTo>
                    <a:pt x="0" y="11936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921" b="-109508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9784080" cy="123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68"/>
                </a:lnSpc>
              </a:pPr>
              <a:r>
                <a:rPr lang="en-US" sz="2400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Extract, parse, and normalize resumes into structured records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22960" y="8215884"/>
            <a:ext cx="850392" cy="850392"/>
            <a:chOff x="0" y="0"/>
            <a:chExt cx="1133856" cy="113385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15A24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822960" y="8215884"/>
            <a:ext cx="850392" cy="850392"/>
            <a:chOff x="0" y="0"/>
            <a:chExt cx="1133856" cy="113385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1133856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947672" y="8119872"/>
            <a:ext cx="7338060" cy="576072"/>
            <a:chOff x="0" y="0"/>
            <a:chExt cx="9784080" cy="76809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784080" cy="768096"/>
            </a:xfrm>
            <a:custGeom>
              <a:avLst/>
              <a:gdLst/>
              <a:ahLst/>
              <a:cxnLst/>
              <a:rect l="l" t="t" r="r" b="b"/>
              <a:pathLst>
                <a:path w="9784080" h="768096">
                  <a:moveTo>
                    <a:pt x="0" y="0"/>
                  </a:moveTo>
                  <a:lnTo>
                    <a:pt x="9784080" y="0"/>
                  </a:lnTo>
                  <a:lnTo>
                    <a:pt x="9784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202" b="-198202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9784080" cy="787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EDA Dashboards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947672" y="8682228"/>
            <a:ext cx="7338060" cy="895237"/>
            <a:chOff x="0" y="0"/>
            <a:chExt cx="9784080" cy="119364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784080" cy="1193649"/>
            </a:xfrm>
            <a:custGeom>
              <a:avLst/>
              <a:gdLst/>
              <a:ahLst/>
              <a:cxnLst/>
              <a:rect l="l" t="t" r="r" b="b"/>
              <a:pathLst>
                <a:path w="9784080" h="1193649">
                  <a:moveTo>
                    <a:pt x="0" y="0"/>
                  </a:moveTo>
                  <a:lnTo>
                    <a:pt x="9784080" y="0"/>
                  </a:lnTo>
                  <a:lnTo>
                    <a:pt x="9784080" y="1193649"/>
                  </a:lnTo>
                  <a:lnTo>
                    <a:pt x="0" y="11936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921" b="-109508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9784080" cy="123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68"/>
                </a:lnSpc>
              </a:pPr>
              <a:r>
                <a:rPr lang="en-US" sz="2400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Skill trends, funnel health, and source quality visualized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532620" y="3360420"/>
            <a:ext cx="850392" cy="850392"/>
            <a:chOff x="0" y="0"/>
            <a:chExt cx="1133856" cy="113385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2D5F7C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9532620" y="3360420"/>
            <a:ext cx="850392" cy="850392"/>
            <a:chOff x="0" y="0"/>
            <a:chExt cx="1133856" cy="113385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28575"/>
              <a:ext cx="1133856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657332" y="3264408"/>
            <a:ext cx="7338060" cy="576072"/>
            <a:chOff x="0" y="0"/>
            <a:chExt cx="9784080" cy="76809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784080" cy="768096"/>
            </a:xfrm>
            <a:custGeom>
              <a:avLst/>
              <a:gdLst/>
              <a:ahLst/>
              <a:cxnLst/>
              <a:rect l="l" t="t" r="r" b="b"/>
              <a:pathLst>
                <a:path w="9784080" h="768096">
                  <a:moveTo>
                    <a:pt x="0" y="0"/>
                  </a:moveTo>
                  <a:lnTo>
                    <a:pt x="9784080" y="0"/>
                  </a:lnTo>
                  <a:lnTo>
                    <a:pt x="9784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202" b="-198202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19050"/>
              <a:ext cx="9784080" cy="787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ML Matching Models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657332" y="3826764"/>
            <a:ext cx="7338060" cy="891540"/>
            <a:chOff x="0" y="0"/>
            <a:chExt cx="9784080" cy="118872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9784080" cy="1188720"/>
            </a:xfrm>
            <a:custGeom>
              <a:avLst/>
              <a:gdLst/>
              <a:ahLst/>
              <a:cxnLst/>
              <a:rect l="l" t="t" r="r" b="b"/>
              <a:pathLst>
                <a:path w="9784080" h="1188720">
                  <a:moveTo>
                    <a:pt x="0" y="0"/>
                  </a:moveTo>
                  <a:lnTo>
                    <a:pt x="9784080" y="0"/>
                  </a:lnTo>
                  <a:lnTo>
                    <a:pt x="9784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376" b="-110376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9784080" cy="12268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68"/>
                </a:lnSpc>
              </a:pPr>
              <a:r>
                <a:rPr lang="en-US" sz="2400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Semantic similarity + weighted resume–JD ranking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532620" y="4978908"/>
            <a:ext cx="850392" cy="850392"/>
            <a:chOff x="0" y="0"/>
            <a:chExt cx="1133856" cy="113385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15A24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9532620" y="4978908"/>
            <a:ext cx="850392" cy="850392"/>
            <a:chOff x="0" y="0"/>
            <a:chExt cx="1133856" cy="113385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28575"/>
              <a:ext cx="1133856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0657332" y="4882896"/>
            <a:ext cx="7338060" cy="576072"/>
            <a:chOff x="0" y="0"/>
            <a:chExt cx="9784080" cy="76809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784080" cy="768096"/>
            </a:xfrm>
            <a:custGeom>
              <a:avLst/>
              <a:gdLst/>
              <a:ahLst/>
              <a:cxnLst/>
              <a:rect l="l" t="t" r="r" b="b"/>
              <a:pathLst>
                <a:path w="9784080" h="768096">
                  <a:moveTo>
                    <a:pt x="0" y="0"/>
                  </a:moveTo>
                  <a:lnTo>
                    <a:pt x="9784080" y="0"/>
                  </a:lnTo>
                  <a:lnTo>
                    <a:pt x="9784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202" b="-198202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9784080" cy="787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GenAI Candidate Insights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0657332" y="5445252"/>
            <a:ext cx="7338060" cy="891540"/>
            <a:chOff x="0" y="0"/>
            <a:chExt cx="9784080" cy="118872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9784080" cy="1188720"/>
            </a:xfrm>
            <a:custGeom>
              <a:avLst/>
              <a:gdLst/>
              <a:ahLst/>
              <a:cxnLst/>
              <a:rect l="l" t="t" r="r" b="b"/>
              <a:pathLst>
                <a:path w="9784080" h="1188720">
                  <a:moveTo>
                    <a:pt x="0" y="0"/>
                  </a:moveTo>
                  <a:lnTo>
                    <a:pt x="9784080" y="0"/>
                  </a:lnTo>
                  <a:lnTo>
                    <a:pt x="9784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376" b="-110376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9784080" cy="12268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68"/>
                </a:lnSpc>
              </a:pPr>
              <a:r>
                <a:rPr lang="en-US" sz="2400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LLM summaries, gap analysis, explainable fit scoring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532620" y="6597396"/>
            <a:ext cx="850392" cy="850392"/>
            <a:chOff x="0" y="0"/>
            <a:chExt cx="1133856" cy="1133856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2D5F7C"/>
            </a:solidFill>
          </p:spPr>
        </p:sp>
      </p:grpSp>
      <p:grpSp>
        <p:nvGrpSpPr>
          <p:cNvPr id="84" name="Group 84"/>
          <p:cNvGrpSpPr/>
          <p:nvPr/>
        </p:nvGrpSpPr>
        <p:grpSpPr>
          <a:xfrm>
            <a:off x="9532620" y="6597396"/>
            <a:ext cx="850392" cy="850392"/>
            <a:chOff x="0" y="0"/>
            <a:chExt cx="1133856" cy="113385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28575"/>
              <a:ext cx="1133856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0657332" y="6501384"/>
            <a:ext cx="7338060" cy="576072"/>
            <a:chOff x="0" y="0"/>
            <a:chExt cx="9784080" cy="768096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9784080" cy="768096"/>
            </a:xfrm>
            <a:custGeom>
              <a:avLst/>
              <a:gdLst/>
              <a:ahLst/>
              <a:cxnLst/>
              <a:rect l="l" t="t" r="r" b="b"/>
              <a:pathLst>
                <a:path w="9784080" h="768096">
                  <a:moveTo>
                    <a:pt x="0" y="0"/>
                  </a:moveTo>
                  <a:lnTo>
                    <a:pt x="9784080" y="0"/>
                  </a:lnTo>
                  <a:lnTo>
                    <a:pt x="9784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202" b="-198202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19050"/>
              <a:ext cx="9784080" cy="787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Dockerized Deployment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0657332" y="7063740"/>
            <a:ext cx="7338060" cy="891540"/>
            <a:chOff x="0" y="0"/>
            <a:chExt cx="9784080" cy="118872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9784080" cy="1188720"/>
            </a:xfrm>
            <a:custGeom>
              <a:avLst/>
              <a:gdLst/>
              <a:ahLst/>
              <a:cxnLst/>
              <a:rect l="l" t="t" r="r" b="b"/>
              <a:pathLst>
                <a:path w="9784080" h="1188720">
                  <a:moveTo>
                    <a:pt x="0" y="0"/>
                  </a:moveTo>
                  <a:lnTo>
                    <a:pt x="9784080" y="0"/>
                  </a:lnTo>
                  <a:lnTo>
                    <a:pt x="9784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376" b="-110376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9784080" cy="12268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68"/>
                </a:lnSpc>
              </a:pPr>
              <a:r>
                <a:rPr lang="en-US" sz="2400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Fully containerized, one-command spin-up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A7A7A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F15A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IT WORKS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028700"/>
            <a:ext cx="15087600" cy="822960"/>
            <a:chOff x="0" y="0"/>
            <a:chExt cx="20116800" cy="10972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116800" cy="1097280"/>
            </a:xfrm>
            <a:custGeom>
              <a:avLst/>
              <a:gdLst/>
              <a:ahLst/>
              <a:cxnLst/>
              <a:rect l="l" t="t" r="r" b="b"/>
              <a:pathLst>
                <a:path w="20116800" h="109728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7225" b="-30722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01168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44"/>
                </a:lnSpc>
              </a:pPr>
              <a:r>
                <a:rPr lang="en-US" sz="48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WORKFLOW DIAGRAM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A7A7A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AFF9BD0-9274-D391-9E42-5086C434CD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877854"/>
            <a:ext cx="13121552" cy="6906169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-2579370" y="7433310"/>
            <a:ext cx="5433060" cy="5433060"/>
            <a:chOff x="0" y="0"/>
            <a:chExt cx="7244080" cy="72440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44080" cy="7244080"/>
            </a:xfrm>
            <a:custGeom>
              <a:avLst/>
              <a:gdLst/>
              <a:ahLst/>
              <a:cxnLst/>
              <a:rect l="l" t="t" r="r" b="b"/>
              <a:pathLst>
                <a:path w="7244080" h="7244080">
                  <a:moveTo>
                    <a:pt x="0" y="3622040"/>
                  </a:moveTo>
                  <a:cubicBezTo>
                    <a:pt x="0" y="1621663"/>
                    <a:pt x="1621663" y="0"/>
                    <a:pt x="3622040" y="0"/>
                  </a:cubicBezTo>
                  <a:cubicBezTo>
                    <a:pt x="5622417" y="0"/>
                    <a:pt x="7244080" y="1621663"/>
                    <a:pt x="7244080" y="3622040"/>
                  </a:cubicBezTo>
                  <a:cubicBezTo>
                    <a:pt x="7244080" y="5622417"/>
                    <a:pt x="5622417" y="7244080"/>
                    <a:pt x="3622040" y="7244080"/>
                  </a:cubicBezTo>
                  <a:cubicBezTo>
                    <a:pt x="1621663" y="7244080"/>
                    <a:pt x="0" y="5622417"/>
                    <a:pt x="0" y="362204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  <a:ln w="495300" cap="sq">
              <a:solidFill>
                <a:srgbClr val="F15A24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7280" y="-822960"/>
            <a:ext cx="7680960" cy="6309360"/>
            <a:chOff x="0" y="0"/>
            <a:chExt cx="10241280" cy="8412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1280" cy="8412480"/>
            </a:xfrm>
            <a:custGeom>
              <a:avLst/>
              <a:gdLst/>
              <a:ahLst/>
              <a:cxnLst/>
              <a:rect l="l" t="t" r="r" b="b"/>
              <a:pathLst>
                <a:path w="10241280" h="8412480">
                  <a:moveTo>
                    <a:pt x="0" y="8412480"/>
                  </a:moveTo>
                  <a:lnTo>
                    <a:pt x="5120640" y="0"/>
                  </a:lnTo>
                  <a:lnTo>
                    <a:pt x="10241280" y="8412480"/>
                  </a:lnTo>
                  <a:close/>
                </a:path>
              </a:pathLst>
            </a:custGeom>
            <a:solidFill>
              <a:srgbClr val="D9E4EA"/>
            </a:solidFill>
          </p:spPr>
        </p:sp>
      </p:grpSp>
      <p:grpSp>
        <p:nvGrpSpPr>
          <p:cNvPr id="4" name="Group 4"/>
          <p:cNvGrpSpPr/>
          <p:nvPr/>
        </p:nvGrpSpPr>
        <p:grpSpPr>
          <a:xfrm rot="-3600000">
            <a:off x="-1371600" y="-1097280"/>
            <a:ext cx="4389120" cy="4114800"/>
            <a:chOff x="0" y="0"/>
            <a:chExt cx="5852160" cy="548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2160" cy="5486400"/>
            </a:xfrm>
            <a:custGeom>
              <a:avLst/>
              <a:gdLst/>
              <a:ahLst/>
              <a:cxnLst/>
              <a:rect l="l" t="t" r="r" b="b"/>
              <a:pathLst>
                <a:path w="5852160" h="5486400">
                  <a:moveTo>
                    <a:pt x="0" y="5486400"/>
                  </a:moveTo>
                  <a:lnTo>
                    <a:pt x="2926080" y="0"/>
                  </a:lnTo>
                  <a:lnTo>
                    <a:pt x="5852160" y="5486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5400000">
            <a:off x="1234440" y="2194560"/>
            <a:ext cx="2743200" cy="2468880"/>
            <a:chOff x="0" y="0"/>
            <a:chExt cx="3657600" cy="329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7600" cy="3291840"/>
            </a:xfrm>
            <a:custGeom>
              <a:avLst/>
              <a:gdLst/>
              <a:ahLst/>
              <a:cxnLst/>
              <a:rect l="l" t="t" r="r" b="b"/>
              <a:pathLst>
                <a:path w="3657600" h="3291840">
                  <a:moveTo>
                    <a:pt x="0" y="3291840"/>
                  </a:moveTo>
                  <a:lnTo>
                    <a:pt x="1828800" y="0"/>
                  </a:lnTo>
                  <a:lnTo>
                    <a:pt x="3657600" y="3291840"/>
                  </a:lnTo>
                  <a:close/>
                </a:path>
              </a:pathLst>
            </a:custGeom>
            <a:solidFill>
              <a:srgbClr val="FBE0D3"/>
            </a:solidFill>
          </p:spPr>
        </p:sp>
      </p:grpSp>
      <p:grpSp>
        <p:nvGrpSpPr>
          <p:cNvPr id="8" name="Group 8"/>
          <p:cNvGrpSpPr/>
          <p:nvPr/>
        </p:nvGrpSpPr>
        <p:grpSpPr>
          <a:xfrm rot="2400000">
            <a:off x="-822960" y="3703320"/>
            <a:ext cx="3566160" cy="3017520"/>
            <a:chOff x="0" y="0"/>
            <a:chExt cx="4754880" cy="4023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54880" cy="4023360"/>
            </a:xfrm>
            <a:custGeom>
              <a:avLst/>
              <a:gdLst/>
              <a:ahLst/>
              <a:cxnLst/>
              <a:rect l="l" t="t" r="r" b="b"/>
              <a:pathLst>
                <a:path w="4754880" h="4023360">
                  <a:moveTo>
                    <a:pt x="0" y="4023360"/>
                  </a:moveTo>
                  <a:lnTo>
                    <a:pt x="2377440" y="0"/>
                  </a:lnTo>
                  <a:lnTo>
                    <a:pt x="4754880" y="4023360"/>
                  </a:lnTo>
                  <a:close/>
                </a:path>
              </a:pathLst>
            </a:custGeom>
            <a:solidFill>
              <a:srgbClr val="D9E4E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22960" y="576072"/>
            <a:ext cx="10972800" cy="480060"/>
            <a:chOff x="0" y="0"/>
            <a:chExt cx="146304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F15A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TOOLS &amp; TECHNOLOGIES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2960" y="1028700"/>
            <a:ext cx="11795760" cy="1783080"/>
            <a:chOff x="0" y="0"/>
            <a:chExt cx="15727680" cy="23774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727680" cy="2377440"/>
            </a:xfrm>
            <a:custGeom>
              <a:avLst/>
              <a:gdLst/>
              <a:ahLst/>
              <a:cxnLst/>
              <a:rect l="l" t="t" r="r" b="b"/>
              <a:pathLst>
                <a:path w="15727680" h="2377440">
                  <a:moveTo>
                    <a:pt x="0" y="0"/>
                  </a:moveTo>
                  <a:lnTo>
                    <a:pt x="15727680" y="0"/>
                  </a:lnTo>
                  <a:lnTo>
                    <a:pt x="157276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901" b="-78901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5727680" cy="2386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44"/>
                </a:lnSpc>
              </a:pPr>
              <a:r>
                <a:rPr lang="en-US" sz="48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TECHNOLOGY</a:t>
              </a:r>
            </a:p>
            <a:p>
              <a:pPr algn="l">
                <a:lnSpc>
                  <a:spcPts val="5644"/>
                </a:lnSpc>
              </a:pPr>
              <a:r>
                <a:rPr lang="en-US" sz="48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STACK</a:t>
              </a:r>
            </a:p>
          </p:txBody>
        </p:sp>
      </p:grpSp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649131"/>
              </p:ext>
            </p:extLst>
          </p:nvPr>
        </p:nvGraphicFramePr>
        <p:xfrm>
          <a:off x="822960" y="3086100"/>
          <a:ext cx="16554450" cy="6534154"/>
        </p:xfrm>
        <a:graphic>
          <a:graphicData uri="http://schemas.openxmlformats.org/drawingml/2006/table">
            <a:tbl>
              <a:tblPr/>
              <a:tblGrid>
                <a:gridCol w="31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2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3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634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Layer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Tool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Why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646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Orchestration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Apache Airflow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dirty="0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Automates and monitors the resume-processing pipeline</a:t>
                      </a:r>
                      <a:endParaRPr lang="en-US" sz="11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646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Warehouse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PostgreSQL (star schema)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dirty="0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Stores structured candidate, job, skill and application data</a:t>
                      </a:r>
                      <a:endParaRPr lang="en-US" sz="11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646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Raw File Storage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MinIO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Free, S3-compatible, Docker-native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646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Parsing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pdfplumber + PyMuPDF + python-docx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Handles text, tables, multi-column resumes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646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NER / Entities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spaCy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Extracts skills, orgs, dates from resumes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646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 / Embeddings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Sentence-Transformers (MiniLM-L6-v2)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Free, local, fast semantic similarity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8646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GenAI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Groq API (Llama 3.x)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dirty="0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Generates candidate summaries, strengths, gaps  explanations</a:t>
                      </a:r>
                      <a:endParaRPr lang="en-US" sz="11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8646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Streamlit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dirty="0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Provides recruiter-facing analytics and candidate ranking UI</a:t>
                      </a:r>
                      <a:endParaRPr lang="en-US" sz="11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8646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Deployment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Docker + docker-compose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dirty="0">
                          <a:solidFill>
                            <a:srgbClr val="4A4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Provides reproducible, containerized deployment</a:t>
                      </a:r>
                      <a:endParaRPr lang="en-US" sz="11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7" name="Group 17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A7A7A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7280" y="-822960"/>
            <a:ext cx="7680960" cy="6309360"/>
            <a:chOff x="0" y="0"/>
            <a:chExt cx="10241280" cy="8412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1280" cy="8412480"/>
            </a:xfrm>
            <a:custGeom>
              <a:avLst/>
              <a:gdLst/>
              <a:ahLst/>
              <a:cxnLst/>
              <a:rect l="l" t="t" r="r" b="b"/>
              <a:pathLst>
                <a:path w="10241280" h="8412480">
                  <a:moveTo>
                    <a:pt x="0" y="8412480"/>
                  </a:moveTo>
                  <a:lnTo>
                    <a:pt x="5120640" y="0"/>
                  </a:lnTo>
                  <a:lnTo>
                    <a:pt x="10241280" y="8412480"/>
                  </a:lnTo>
                  <a:close/>
                </a:path>
              </a:pathLst>
            </a:custGeom>
            <a:solidFill>
              <a:srgbClr val="D9E4EA"/>
            </a:solidFill>
          </p:spPr>
        </p:sp>
      </p:grpSp>
      <p:grpSp>
        <p:nvGrpSpPr>
          <p:cNvPr id="4" name="Group 4"/>
          <p:cNvGrpSpPr/>
          <p:nvPr/>
        </p:nvGrpSpPr>
        <p:grpSpPr>
          <a:xfrm rot="-3600000">
            <a:off x="-1371600" y="-1097280"/>
            <a:ext cx="4389120" cy="4114800"/>
            <a:chOff x="0" y="0"/>
            <a:chExt cx="5852160" cy="548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2160" cy="5486400"/>
            </a:xfrm>
            <a:custGeom>
              <a:avLst/>
              <a:gdLst/>
              <a:ahLst/>
              <a:cxnLst/>
              <a:rect l="l" t="t" r="r" b="b"/>
              <a:pathLst>
                <a:path w="5852160" h="5486400">
                  <a:moveTo>
                    <a:pt x="0" y="5486400"/>
                  </a:moveTo>
                  <a:lnTo>
                    <a:pt x="2926080" y="0"/>
                  </a:lnTo>
                  <a:lnTo>
                    <a:pt x="5852160" y="5486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5400000">
            <a:off x="1234440" y="2194560"/>
            <a:ext cx="2743200" cy="2468880"/>
            <a:chOff x="0" y="0"/>
            <a:chExt cx="3657600" cy="329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7600" cy="3291840"/>
            </a:xfrm>
            <a:custGeom>
              <a:avLst/>
              <a:gdLst/>
              <a:ahLst/>
              <a:cxnLst/>
              <a:rect l="l" t="t" r="r" b="b"/>
              <a:pathLst>
                <a:path w="3657600" h="3291840">
                  <a:moveTo>
                    <a:pt x="0" y="3291840"/>
                  </a:moveTo>
                  <a:lnTo>
                    <a:pt x="1828800" y="0"/>
                  </a:lnTo>
                  <a:lnTo>
                    <a:pt x="3657600" y="3291840"/>
                  </a:lnTo>
                  <a:close/>
                </a:path>
              </a:pathLst>
            </a:custGeom>
            <a:solidFill>
              <a:srgbClr val="FBE0D3"/>
            </a:solidFill>
          </p:spPr>
        </p:sp>
      </p:grpSp>
      <p:grpSp>
        <p:nvGrpSpPr>
          <p:cNvPr id="8" name="Group 8"/>
          <p:cNvGrpSpPr/>
          <p:nvPr/>
        </p:nvGrpSpPr>
        <p:grpSpPr>
          <a:xfrm rot="2400000">
            <a:off x="-822960" y="3703320"/>
            <a:ext cx="3566160" cy="3017520"/>
            <a:chOff x="0" y="0"/>
            <a:chExt cx="4754880" cy="4023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54880" cy="4023360"/>
            </a:xfrm>
            <a:custGeom>
              <a:avLst/>
              <a:gdLst/>
              <a:ahLst/>
              <a:cxnLst/>
              <a:rect l="l" t="t" r="r" b="b"/>
              <a:pathLst>
                <a:path w="4754880" h="4023360">
                  <a:moveTo>
                    <a:pt x="0" y="4023360"/>
                  </a:moveTo>
                  <a:lnTo>
                    <a:pt x="2377440" y="0"/>
                  </a:lnTo>
                  <a:lnTo>
                    <a:pt x="4754880" y="4023360"/>
                  </a:lnTo>
                  <a:close/>
                </a:path>
              </a:pathLst>
            </a:custGeom>
            <a:solidFill>
              <a:srgbClr val="D9E4E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22960" y="576072"/>
            <a:ext cx="10972800" cy="480060"/>
            <a:chOff x="0" y="0"/>
            <a:chExt cx="146304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F15A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CORE LOGIC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2960" y="1028700"/>
            <a:ext cx="11795760" cy="1783080"/>
            <a:chOff x="0" y="0"/>
            <a:chExt cx="15727680" cy="23774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727680" cy="2377440"/>
            </a:xfrm>
            <a:custGeom>
              <a:avLst/>
              <a:gdLst/>
              <a:ahLst/>
              <a:cxnLst/>
              <a:rect l="l" t="t" r="r" b="b"/>
              <a:pathLst>
                <a:path w="15727680" h="2377440">
                  <a:moveTo>
                    <a:pt x="0" y="0"/>
                  </a:moveTo>
                  <a:lnTo>
                    <a:pt x="15727680" y="0"/>
                  </a:lnTo>
                  <a:lnTo>
                    <a:pt x="157276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901" b="-78901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5727680" cy="2386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44"/>
                </a:lnSpc>
              </a:pPr>
              <a:r>
                <a:rPr lang="en-US" sz="48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MATCHING</a:t>
              </a:r>
            </a:p>
            <a:p>
              <a:pPr algn="l">
                <a:lnSpc>
                  <a:spcPts val="5644"/>
                </a:lnSpc>
              </a:pPr>
              <a:r>
                <a:rPr lang="en-US" sz="48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ALGORITHM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" y="2948940"/>
            <a:ext cx="11795760" cy="6789420"/>
            <a:chOff x="0" y="0"/>
            <a:chExt cx="15727680" cy="9052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727680" cy="9052560"/>
            </a:xfrm>
            <a:custGeom>
              <a:avLst/>
              <a:gdLst/>
              <a:ahLst/>
              <a:cxnLst/>
              <a:rect l="l" t="t" r="r" b="b"/>
              <a:pathLst>
                <a:path w="15727680" h="90525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5617952" y="0"/>
                  </a:lnTo>
                  <a:cubicBezTo>
                    <a:pt x="15678531" y="0"/>
                    <a:pt x="15727680" y="49149"/>
                    <a:pt x="15727680" y="109728"/>
                  </a:cubicBezTo>
                  <a:lnTo>
                    <a:pt x="15727680" y="8942832"/>
                  </a:lnTo>
                  <a:cubicBezTo>
                    <a:pt x="15727680" y="9003411"/>
                    <a:pt x="15678531" y="9052560"/>
                    <a:pt x="15617952" y="9052560"/>
                  </a:cubicBezTo>
                  <a:lnTo>
                    <a:pt x="109728" y="9052560"/>
                  </a:lnTo>
                  <a:cubicBezTo>
                    <a:pt x="49149" y="9052560"/>
                    <a:pt x="0" y="9003411"/>
                    <a:pt x="0" y="8942832"/>
                  </a:cubicBezTo>
                  <a:close/>
                </a:path>
              </a:pathLst>
            </a:custGeom>
            <a:solidFill>
              <a:srgbClr val="1F4457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303020" y="3185160"/>
            <a:ext cx="10835640" cy="634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9FE3B0"/>
                </a:solidFill>
                <a:latin typeface="Courier New"/>
                <a:ea typeface="Courier New"/>
                <a:cs typeface="Courier New"/>
                <a:sym typeface="Courier New"/>
              </a:rPr>
              <a:t>for each resume: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9FE3B0"/>
                </a:solidFill>
                <a:latin typeface="Courier New"/>
                <a:ea typeface="Courier New"/>
                <a:cs typeface="Courier New"/>
                <a:sym typeface="Courier New"/>
              </a:rPr>
              <a:t>    parsed = extract_entities(resume)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9FE3B0"/>
                </a:solidFill>
                <a:latin typeface="Courier New"/>
                <a:ea typeface="Courier New"/>
                <a:cs typeface="Courier New"/>
                <a:sym typeface="Courier New"/>
              </a:rPr>
              <a:t>    resume_vec = embed(parsed.summary)</a:t>
            </a:r>
          </a:p>
          <a:p>
            <a:pPr algn="l">
              <a:lnSpc>
                <a:spcPts val="2587"/>
              </a:lnSpc>
            </a:pPr>
            <a:endParaRPr lang="en-US" sz="1875">
              <a:solidFill>
                <a:srgbClr val="9FE3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9FE3B0"/>
                </a:solidFill>
                <a:latin typeface="Courier New"/>
                <a:ea typeface="Courier New"/>
                <a:cs typeface="Courier New"/>
                <a:sym typeface="Courier New"/>
              </a:rPr>
              <a:t>for each job_description: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9FE3B0"/>
                </a:solidFill>
                <a:latin typeface="Courier New"/>
                <a:ea typeface="Courier New"/>
                <a:cs typeface="Courier New"/>
                <a:sym typeface="Courier New"/>
              </a:rPr>
              <a:t>    jd_vec = embed(jd.text)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9FE3B0"/>
                </a:solidFill>
                <a:latin typeface="Courier New"/>
                <a:ea typeface="Courier New"/>
                <a:cs typeface="Courier New"/>
                <a:sym typeface="Courier New"/>
              </a:rPr>
              <a:t>    jd_skills = extract_skills(jd.text)</a:t>
            </a:r>
          </a:p>
          <a:p>
            <a:pPr algn="l">
              <a:lnSpc>
                <a:spcPts val="2587"/>
              </a:lnSpc>
            </a:pPr>
            <a:endParaRPr lang="en-US" sz="1875">
              <a:solidFill>
                <a:srgbClr val="9FE3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9FE3B0"/>
                </a:solidFill>
                <a:latin typeface="Courier New"/>
                <a:ea typeface="Courier New"/>
                <a:cs typeface="Courier New"/>
                <a:sym typeface="Courier New"/>
              </a:rPr>
              <a:t>for each (resume, jd) pair: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9FE3B0"/>
                </a:solidFill>
                <a:latin typeface="Courier New"/>
                <a:ea typeface="Courier New"/>
                <a:cs typeface="Courier New"/>
                <a:sym typeface="Courier New"/>
              </a:rPr>
              <a:t>    sem_score   = cosine_sim(resume_vec, jd_vec)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9FE3B0"/>
                </a:solidFill>
                <a:latin typeface="Courier New"/>
                <a:ea typeface="Courier New"/>
                <a:cs typeface="Courier New"/>
                <a:sym typeface="Courier New"/>
              </a:rPr>
              <a:t>    skill_score = jaccard(resume.skills, jd_skills)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9FE3B0"/>
                </a:solidFill>
                <a:latin typeface="Courier New"/>
                <a:ea typeface="Courier New"/>
                <a:cs typeface="Courier New"/>
                <a:sym typeface="Courier New"/>
              </a:rPr>
              <a:t>    exp_score   = match_exp(resume.years, jd.req_years)</a:t>
            </a:r>
          </a:p>
          <a:p>
            <a:pPr algn="l">
              <a:lnSpc>
                <a:spcPts val="2587"/>
              </a:lnSpc>
            </a:pPr>
            <a:endParaRPr lang="en-US" sz="1875">
              <a:solidFill>
                <a:srgbClr val="9FE3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9FE3B0"/>
                </a:solidFill>
                <a:latin typeface="Courier New"/>
                <a:ea typeface="Courier New"/>
                <a:cs typeface="Courier New"/>
                <a:sym typeface="Courier New"/>
              </a:rPr>
              <a:t>    final_score = weighted_sum(sem_score, skill_score, exp_score)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9FE3B0"/>
                </a:solidFill>
                <a:latin typeface="Courier New"/>
                <a:ea typeface="Courier New"/>
                <a:cs typeface="Courier New"/>
                <a:sym typeface="Courier New"/>
              </a:rPr>
              <a:t>    insight = generate_explanation(resume, jd, final_score)</a:t>
            </a:r>
          </a:p>
          <a:p>
            <a:pPr algn="l">
              <a:lnSpc>
                <a:spcPts val="2587"/>
              </a:lnSpc>
            </a:pPr>
            <a:endParaRPr lang="en-US" sz="1875">
              <a:solidFill>
                <a:srgbClr val="9FE3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9FE3B0"/>
                </a:solidFill>
                <a:latin typeface="Courier New"/>
                <a:ea typeface="Courier New"/>
                <a:cs typeface="Courier New"/>
                <a:sym typeface="Courier New"/>
              </a:rPr>
              <a:t>rank candidates by final_score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9FE3B0"/>
                </a:solidFill>
                <a:latin typeface="Courier New"/>
                <a:ea typeface="Courier New"/>
                <a:cs typeface="Courier New"/>
                <a:sym typeface="Courier New"/>
              </a:rPr>
              <a:t>output shortlist + explanations → dashboard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030200" y="3497580"/>
            <a:ext cx="480060" cy="480060"/>
            <a:chOff x="0" y="0"/>
            <a:chExt cx="640080" cy="6400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824"/>
                    <a:pt x="0" y="320040"/>
                  </a:cubicBezTo>
                  <a:close/>
                </a:path>
              </a:pathLst>
            </a:custGeom>
            <a:solidFill>
              <a:srgbClr val="F15A24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3688568" y="3429000"/>
            <a:ext cx="3771900" cy="557751"/>
            <a:chOff x="0" y="0"/>
            <a:chExt cx="5029200" cy="74366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029200" cy="743668"/>
            </a:xfrm>
            <a:custGeom>
              <a:avLst/>
              <a:gdLst/>
              <a:ahLst/>
              <a:cxnLst/>
              <a:rect l="l" t="t" r="r" b="b"/>
              <a:pathLst>
                <a:path w="5029200" h="743668">
                  <a:moveTo>
                    <a:pt x="0" y="0"/>
                  </a:moveTo>
                  <a:lnTo>
                    <a:pt x="5029200" y="0"/>
                  </a:lnTo>
                  <a:lnTo>
                    <a:pt x="5029200" y="743668"/>
                  </a:lnTo>
                  <a:lnTo>
                    <a:pt x="0" y="743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736" b="-7480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5029200" cy="762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Semantic Score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688568" y="3936492"/>
            <a:ext cx="3771900" cy="960120"/>
            <a:chOff x="0" y="0"/>
            <a:chExt cx="5029200" cy="12801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29200" cy="1280160"/>
            </a:xfrm>
            <a:custGeom>
              <a:avLst/>
              <a:gdLst/>
              <a:ahLst/>
              <a:cxnLst/>
              <a:rect l="l" t="t" r="r" b="b"/>
              <a:pathLst>
                <a:path w="5029200" h="1280160">
                  <a:moveTo>
                    <a:pt x="0" y="0"/>
                  </a:moveTo>
                  <a:lnTo>
                    <a:pt x="5029200" y="0"/>
                  </a:lnTo>
                  <a:lnTo>
                    <a:pt x="502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548" b="-26548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5029200" cy="131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67"/>
                </a:lnSpc>
              </a:pPr>
              <a:r>
                <a:rPr lang="en-US" sz="2399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Cosine similarity between resume &amp; JD embeddings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030200" y="5554980"/>
            <a:ext cx="480060" cy="480060"/>
            <a:chOff x="0" y="0"/>
            <a:chExt cx="640080" cy="6400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824"/>
                    <a:pt x="0" y="320040"/>
                  </a:cubicBezTo>
                  <a:close/>
                </a:path>
              </a:pathLst>
            </a:custGeom>
            <a:solidFill>
              <a:srgbClr val="F15A24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3688568" y="5486400"/>
            <a:ext cx="3771900" cy="557751"/>
            <a:chOff x="0" y="0"/>
            <a:chExt cx="5029200" cy="74366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029200" cy="743668"/>
            </a:xfrm>
            <a:custGeom>
              <a:avLst/>
              <a:gdLst/>
              <a:ahLst/>
              <a:cxnLst/>
              <a:rect l="l" t="t" r="r" b="b"/>
              <a:pathLst>
                <a:path w="5029200" h="743668">
                  <a:moveTo>
                    <a:pt x="0" y="0"/>
                  </a:moveTo>
                  <a:lnTo>
                    <a:pt x="5029200" y="0"/>
                  </a:lnTo>
                  <a:lnTo>
                    <a:pt x="5029200" y="743668"/>
                  </a:lnTo>
                  <a:lnTo>
                    <a:pt x="0" y="743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736" b="-74806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5029200" cy="762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Skill Overlap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688568" y="5993892"/>
            <a:ext cx="3771900" cy="960120"/>
            <a:chOff x="0" y="0"/>
            <a:chExt cx="5029200" cy="12801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029200" cy="1280160"/>
            </a:xfrm>
            <a:custGeom>
              <a:avLst/>
              <a:gdLst/>
              <a:ahLst/>
              <a:cxnLst/>
              <a:rect l="l" t="t" r="r" b="b"/>
              <a:pathLst>
                <a:path w="5029200" h="1280160">
                  <a:moveTo>
                    <a:pt x="0" y="0"/>
                  </a:moveTo>
                  <a:lnTo>
                    <a:pt x="5029200" y="0"/>
                  </a:lnTo>
                  <a:lnTo>
                    <a:pt x="502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548" b="-26548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5029200" cy="131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67"/>
                </a:lnSpc>
              </a:pPr>
              <a:r>
                <a:rPr lang="en-US" sz="2399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Jaccard similarity of extracted skill sets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030200" y="7612380"/>
            <a:ext cx="480060" cy="480060"/>
            <a:chOff x="0" y="0"/>
            <a:chExt cx="640080" cy="6400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824"/>
                    <a:pt x="0" y="320040"/>
                  </a:cubicBezTo>
                  <a:close/>
                </a:path>
              </a:pathLst>
            </a:custGeom>
            <a:solidFill>
              <a:srgbClr val="F15A24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3688568" y="7543800"/>
            <a:ext cx="3771900" cy="557751"/>
            <a:chOff x="0" y="0"/>
            <a:chExt cx="5029200" cy="74366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029200" cy="743668"/>
            </a:xfrm>
            <a:custGeom>
              <a:avLst/>
              <a:gdLst/>
              <a:ahLst/>
              <a:cxnLst/>
              <a:rect l="l" t="t" r="r" b="b"/>
              <a:pathLst>
                <a:path w="5029200" h="743668">
                  <a:moveTo>
                    <a:pt x="0" y="0"/>
                  </a:moveTo>
                  <a:lnTo>
                    <a:pt x="5029200" y="0"/>
                  </a:lnTo>
                  <a:lnTo>
                    <a:pt x="5029200" y="743668"/>
                  </a:lnTo>
                  <a:lnTo>
                    <a:pt x="0" y="743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736" b="-74806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5029200" cy="762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Experience Match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688568" y="8051292"/>
            <a:ext cx="3771900" cy="960120"/>
            <a:chOff x="0" y="0"/>
            <a:chExt cx="5029200" cy="12801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029200" cy="1280160"/>
            </a:xfrm>
            <a:custGeom>
              <a:avLst/>
              <a:gdLst/>
              <a:ahLst/>
              <a:cxnLst/>
              <a:rect l="l" t="t" r="r" b="b"/>
              <a:pathLst>
                <a:path w="5029200" h="1280160">
                  <a:moveTo>
                    <a:pt x="0" y="0"/>
                  </a:moveTo>
                  <a:lnTo>
                    <a:pt x="5029200" y="0"/>
                  </a:lnTo>
                  <a:lnTo>
                    <a:pt x="502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548" b="-26548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5029200" cy="131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67"/>
                </a:lnSpc>
              </a:pPr>
              <a:r>
                <a:rPr lang="en-US" sz="2399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Candidate years vs. JD required years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A7A7A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7280" y="-822960"/>
            <a:ext cx="7680960" cy="6309360"/>
            <a:chOff x="0" y="0"/>
            <a:chExt cx="10241280" cy="8412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1280" cy="8412480"/>
            </a:xfrm>
            <a:custGeom>
              <a:avLst/>
              <a:gdLst/>
              <a:ahLst/>
              <a:cxnLst/>
              <a:rect l="l" t="t" r="r" b="b"/>
              <a:pathLst>
                <a:path w="10241280" h="8412480">
                  <a:moveTo>
                    <a:pt x="0" y="8412480"/>
                  </a:moveTo>
                  <a:lnTo>
                    <a:pt x="5120640" y="0"/>
                  </a:lnTo>
                  <a:lnTo>
                    <a:pt x="10241280" y="8412480"/>
                  </a:lnTo>
                  <a:close/>
                </a:path>
              </a:pathLst>
            </a:custGeom>
            <a:solidFill>
              <a:srgbClr val="D9E4EA"/>
            </a:solidFill>
          </p:spPr>
        </p:sp>
      </p:grpSp>
      <p:grpSp>
        <p:nvGrpSpPr>
          <p:cNvPr id="4" name="Group 4"/>
          <p:cNvGrpSpPr/>
          <p:nvPr/>
        </p:nvGrpSpPr>
        <p:grpSpPr>
          <a:xfrm rot="-3600000">
            <a:off x="-1371600" y="-1097280"/>
            <a:ext cx="4389120" cy="4114800"/>
            <a:chOff x="0" y="0"/>
            <a:chExt cx="5852160" cy="548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2160" cy="5486400"/>
            </a:xfrm>
            <a:custGeom>
              <a:avLst/>
              <a:gdLst/>
              <a:ahLst/>
              <a:cxnLst/>
              <a:rect l="l" t="t" r="r" b="b"/>
              <a:pathLst>
                <a:path w="5852160" h="5486400">
                  <a:moveTo>
                    <a:pt x="0" y="5486400"/>
                  </a:moveTo>
                  <a:lnTo>
                    <a:pt x="2926080" y="0"/>
                  </a:lnTo>
                  <a:lnTo>
                    <a:pt x="5852160" y="5486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5400000">
            <a:off x="1234440" y="2194560"/>
            <a:ext cx="2743200" cy="2468880"/>
            <a:chOff x="0" y="0"/>
            <a:chExt cx="3657600" cy="329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7600" cy="3291840"/>
            </a:xfrm>
            <a:custGeom>
              <a:avLst/>
              <a:gdLst/>
              <a:ahLst/>
              <a:cxnLst/>
              <a:rect l="l" t="t" r="r" b="b"/>
              <a:pathLst>
                <a:path w="3657600" h="3291840">
                  <a:moveTo>
                    <a:pt x="0" y="3291840"/>
                  </a:moveTo>
                  <a:lnTo>
                    <a:pt x="1828800" y="0"/>
                  </a:lnTo>
                  <a:lnTo>
                    <a:pt x="3657600" y="3291840"/>
                  </a:lnTo>
                  <a:close/>
                </a:path>
              </a:pathLst>
            </a:custGeom>
            <a:solidFill>
              <a:srgbClr val="FBE0D3"/>
            </a:solidFill>
          </p:spPr>
        </p:sp>
      </p:grpSp>
      <p:grpSp>
        <p:nvGrpSpPr>
          <p:cNvPr id="8" name="Group 8"/>
          <p:cNvGrpSpPr/>
          <p:nvPr/>
        </p:nvGrpSpPr>
        <p:grpSpPr>
          <a:xfrm rot="2400000">
            <a:off x="-822960" y="3703320"/>
            <a:ext cx="3566160" cy="3017520"/>
            <a:chOff x="0" y="0"/>
            <a:chExt cx="4754880" cy="4023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54880" cy="4023360"/>
            </a:xfrm>
            <a:custGeom>
              <a:avLst/>
              <a:gdLst/>
              <a:ahLst/>
              <a:cxnLst/>
              <a:rect l="l" t="t" r="r" b="b"/>
              <a:pathLst>
                <a:path w="4754880" h="4023360">
                  <a:moveTo>
                    <a:pt x="0" y="4023360"/>
                  </a:moveTo>
                  <a:lnTo>
                    <a:pt x="2377440" y="0"/>
                  </a:lnTo>
                  <a:lnTo>
                    <a:pt x="4754880" y="4023360"/>
                  </a:lnTo>
                  <a:close/>
                </a:path>
              </a:pathLst>
            </a:custGeom>
            <a:solidFill>
              <a:srgbClr val="D9E4E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22960" y="576072"/>
            <a:ext cx="10972800" cy="480060"/>
            <a:chOff x="0" y="0"/>
            <a:chExt cx="146304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F15A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LOOKING AHEAD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2960" y="1028700"/>
            <a:ext cx="15087600" cy="1783080"/>
            <a:chOff x="0" y="0"/>
            <a:chExt cx="20116800" cy="23774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116800" cy="2377440"/>
            </a:xfrm>
            <a:custGeom>
              <a:avLst/>
              <a:gdLst/>
              <a:ahLst/>
              <a:cxnLst/>
              <a:rect l="l" t="t" r="r" b="b"/>
              <a:pathLst>
                <a:path w="20116800" h="2377440">
                  <a:moveTo>
                    <a:pt x="0" y="0"/>
                  </a:moveTo>
                  <a:lnTo>
                    <a:pt x="20116800" y="0"/>
                  </a:lnTo>
                  <a:lnTo>
                    <a:pt x="201168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4873" b="-114873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20116800" cy="2386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939"/>
                </a:lnSpc>
              </a:pPr>
              <a:r>
                <a:rPr lang="en-US" sz="42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ASSUMPTIONS,</a:t>
              </a:r>
            </a:p>
            <a:p>
              <a:pPr algn="l">
                <a:lnSpc>
                  <a:spcPts val="4939"/>
                </a:lnSpc>
              </a:pPr>
              <a:r>
                <a:rPr lang="en-US" sz="42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CHALLENGES &amp; QUERIES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" y="3429000"/>
            <a:ext cx="5417820" cy="6240780"/>
            <a:chOff x="0" y="0"/>
            <a:chExt cx="7223760" cy="83210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223761" cy="8321040"/>
            </a:xfrm>
            <a:custGeom>
              <a:avLst/>
              <a:gdLst/>
              <a:ahLst/>
              <a:cxnLst/>
              <a:rect l="l" t="t" r="r" b="b"/>
              <a:pathLst>
                <a:path w="7223761" h="83210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77456" y="0"/>
                  </a:lnTo>
                  <a:cubicBezTo>
                    <a:pt x="7158228" y="0"/>
                    <a:pt x="7223761" y="65532"/>
                    <a:pt x="7223761" y="146304"/>
                  </a:cubicBezTo>
                  <a:lnTo>
                    <a:pt x="7223761" y="8174736"/>
                  </a:lnTo>
                  <a:cubicBezTo>
                    <a:pt x="7223761" y="8255508"/>
                    <a:pt x="7158228" y="8321040"/>
                    <a:pt x="7077456" y="8321040"/>
                  </a:cubicBezTo>
                  <a:lnTo>
                    <a:pt x="146304" y="8321040"/>
                  </a:lnTo>
                  <a:cubicBezTo>
                    <a:pt x="65532" y="8321040"/>
                    <a:pt x="0" y="8255508"/>
                    <a:pt x="0" y="8174736"/>
                  </a:cubicBezTo>
                  <a:close/>
                </a:path>
              </a:pathLst>
            </a:custGeom>
            <a:solidFill>
              <a:srgbClr val="F7FAFC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108710" y="3755517"/>
            <a:ext cx="4869180" cy="754380"/>
            <a:chOff x="0" y="0"/>
            <a:chExt cx="6492240" cy="100584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005840" cy="1005840"/>
              <a:chOff x="0" y="0"/>
              <a:chExt cx="1005840" cy="100584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005840" cy="1005840"/>
              </a:xfrm>
              <a:custGeom>
                <a:avLst/>
                <a:gdLst/>
                <a:ahLst/>
                <a:cxnLst/>
                <a:rect l="l" t="t" r="r" b="b"/>
                <a:pathLst>
                  <a:path w="1005840" h="1005840">
                    <a:moveTo>
                      <a:pt x="0" y="502920"/>
                    </a:moveTo>
                    <a:cubicBezTo>
                      <a:pt x="0" y="225171"/>
                      <a:pt x="225171" y="0"/>
                      <a:pt x="502920" y="0"/>
                    </a:cubicBezTo>
                    <a:cubicBezTo>
                      <a:pt x="780669" y="0"/>
                      <a:pt x="1005840" y="225171"/>
                      <a:pt x="1005840" y="502920"/>
                    </a:cubicBezTo>
                    <a:cubicBezTo>
                      <a:pt x="1005840" y="780669"/>
                      <a:pt x="780669" y="1005840"/>
                      <a:pt x="502920" y="1005840"/>
                    </a:cubicBezTo>
                    <a:cubicBezTo>
                      <a:pt x="225171" y="1005840"/>
                      <a:pt x="0" y="780669"/>
                      <a:pt x="0" y="502920"/>
                    </a:cubicBezTo>
                    <a:close/>
                  </a:path>
                </a:pathLst>
              </a:custGeom>
              <a:solidFill>
                <a:srgbClr val="2D5F7C"/>
              </a:solidFill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237744" y="237744"/>
              <a:ext cx="548640" cy="548640"/>
              <a:chOff x="0" y="0"/>
              <a:chExt cx="548640" cy="548640"/>
            </a:xfrm>
          </p:grpSpPr>
          <p:sp>
            <p:nvSpPr>
              <p:cNvPr id="22" name="Freeform 22" descr="preencoded.png"/>
              <p:cNvSpPr/>
              <p:nvPr/>
            </p:nvSpPr>
            <p:spPr>
              <a:xfrm>
                <a:off x="0" y="0"/>
                <a:ext cx="548640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1280160" y="0"/>
              <a:ext cx="5212080" cy="1005840"/>
              <a:chOff x="0" y="0"/>
              <a:chExt cx="5212080" cy="100584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5212080" cy="1005840"/>
              </a:xfrm>
              <a:custGeom>
                <a:avLst/>
                <a:gdLst/>
                <a:ahLst/>
                <a:cxnLst/>
                <a:rect l="l" t="t" r="r" b="b"/>
                <a:pathLst>
                  <a:path w="5212080" h="1005840">
                    <a:moveTo>
                      <a:pt x="0" y="0"/>
                    </a:moveTo>
                    <a:lnTo>
                      <a:pt x="5212080" y="0"/>
                    </a:lnTo>
                    <a:lnTo>
                      <a:pt x="5212080" y="1005840"/>
                    </a:lnTo>
                    <a:lnTo>
                      <a:pt x="0" y="10058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967" b="-50967"/>
                </a:stretch>
              </a:blip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19050"/>
                <a:ext cx="5212080" cy="102489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240"/>
                  </a:lnSpc>
                </a:pPr>
                <a:r>
                  <a:rPr lang="en-US" sz="2700" b="1">
                    <a:solidFill>
                      <a:srgbClr val="1A1A1A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Assumptions</a:t>
                </a:r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1298448" y="4829175"/>
            <a:ext cx="4469892" cy="3194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Synthetic data reasonably approximates real resume diversity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Job descriptions are reasonably structured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English-language resumes only for v1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720840" y="3429000"/>
            <a:ext cx="5417820" cy="6240780"/>
            <a:chOff x="0" y="0"/>
            <a:chExt cx="7223760" cy="83210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23761" cy="8321040"/>
            </a:xfrm>
            <a:custGeom>
              <a:avLst/>
              <a:gdLst/>
              <a:ahLst/>
              <a:cxnLst/>
              <a:rect l="l" t="t" r="r" b="b"/>
              <a:pathLst>
                <a:path w="7223761" h="83210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77456" y="0"/>
                  </a:lnTo>
                  <a:cubicBezTo>
                    <a:pt x="7158228" y="0"/>
                    <a:pt x="7223761" y="65532"/>
                    <a:pt x="7223761" y="146304"/>
                  </a:cubicBezTo>
                  <a:lnTo>
                    <a:pt x="7223761" y="8174736"/>
                  </a:lnTo>
                  <a:cubicBezTo>
                    <a:pt x="7223761" y="8255508"/>
                    <a:pt x="7158228" y="8321040"/>
                    <a:pt x="7077456" y="8321040"/>
                  </a:cubicBezTo>
                  <a:lnTo>
                    <a:pt x="146304" y="8321040"/>
                  </a:lnTo>
                  <a:cubicBezTo>
                    <a:pt x="65532" y="8321040"/>
                    <a:pt x="0" y="8255508"/>
                    <a:pt x="0" y="8174736"/>
                  </a:cubicBezTo>
                  <a:close/>
                </a:path>
              </a:pathLst>
            </a:custGeom>
            <a:solidFill>
              <a:srgbClr val="F7FAFC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7002018" y="3755517"/>
            <a:ext cx="4869180" cy="770763"/>
            <a:chOff x="0" y="0"/>
            <a:chExt cx="6492240" cy="1027684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21844"/>
              <a:ext cx="1005840" cy="1005840"/>
              <a:chOff x="0" y="0"/>
              <a:chExt cx="1005840" cy="100584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005840" cy="1005840"/>
              </a:xfrm>
              <a:custGeom>
                <a:avLst/>
                <a:gdLst/>
                <a:ahLst/>
                <a:cxnLst/>
                <a:rect l="l" t="t" r="r" b="b"/>
                <a:pathLst>
                  <a:path w="1005840" h="1005840">
                    <a:moveTo>
                      <a:pt x="0" y="502920"/>
                    </a:moveTo>
                    <a:cubicBezTo>
                      <a:pt x="0" y="225171"/>
                      <a:pt x="225171" y="0"/>
                      <a:pt x="502920" y="0"/>
                    </a:cubicBezTo>
                    <a:cubicBezTo>
                      <a:pt x="780669" y="0"/>
                      <a:pt x="1005840" y="225171"/>
                      <a:pt x="1005840" y="502920"/>
                    </a:cubicBezTo>
                    <a:cubicBezTo>
                      <a:pt x="1005840" y="780669"/>
                      <a:pt x="780669" y="1005840"/>
                      <a:pt x="502920" y="1005840"/>
                    </a:cubicBezTo>
                    <a:cubicBezTo>
                      <a:pt x="225171" y="1005840"/>
                      <a:pt x="0" y="780669"/>
                      <a:pt x="0" y="502920"/>
                    </a:cubicBezTo>
                    <a:close/>
                  </a:path>
                </a:pathLst>
              </a:custGeom>
              <a:solidFill>
                <a:srgbClr val="2D5F7C"/>
              </a:solidFill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237744" y="237744"/>
              <a:ext cx="548640" cy="548640"/>
              <a:chOff x="0" y="0"/>
              <a:chExt cx="548640" cy="548640"/>
            </a:xfrm>
          </p:grpSpPr>
          <p:sp>
            <p:nvSpPr>
              <p:cNvPr id="33" name="Freeform 33" descr="preencoded.png"/>
              <p:cNvSpPr/>
              <p:nvPr/>
            </p:nvSpPr>
            <p:spPr>
              <a:xfrm>
                <a:off x="0" y="0"/>
                <a:ext cx="548640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1280160" y="0"/>
              <a:ext cx="5212080" cy="1005840"/>
              <a:chOff x="0" y="0"/>
              <a:chExt cx="5212080" cy="100584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5212080" cy="1005840"/>
              </a:xfrm>
              <a:custGeom>
                <a:avLst/>
                <a:gdLst/>
                <a:ahLst/>
                <a:cxnLst/>
                <a:rect l="l" t="t" r="r" b="b"/>
                <a:pathLst>
                  <a:path w="5212080" h="1005840">
                    <a:moveTo>
                      <a:pt x="0" y="0"/>
                    </a:moveTo>
                    <a:lnTo>
                      <a:pt x="5212080" y="0"/>
                    </a:lnTo>
                    <a:lnTo>
                      <a:pt x="5212080" y="1005840"/>
                    </a:lnTo>
                    <a:lnTo>
                      <a:pt x="0" y="10058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967" b="-50967"/>
                </a:stretch>
              </a:blip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19050"/>
                <a:ext cx="5212080" cy="102489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240"/>
                  </a:lnSpc>
                </a:pPr>
                <a:r>
                  <a:rPr lang="en-US" sz="2700" b="1">
                    <a:solidFill>
                      <a:srgbClr val="1A1A1A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Challenges</a:t>
                </a:r>
              </a:p>
            </p:txBody>
          </p:sp>
        </p:grpSp>
      </p:grpSp>
      <p:sp>
        <p:nvSpPr>
          <p:cNvPr id="37" name="TextBox 37"/>
          <p:cNvSpPr txBox="1"/>
          <p:nvPr/>
        </p:nvSpPr>
        <p:spPr>
          <a:xfrm>
            <a:off x="7196328" y="4829175"/>
            <a:ext cx="4480560" cy="410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Resume format variability (tables, multi-column, images)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Bias potentially embedded in pretrained embeddings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No labeled ground truth to validate match scores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LLM hallucination risk in generated insights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2618720" y="3429000"/>
            <a:ext cx="5417820" cy="6240780"/>
            <a:chOff x="0" y="0"/>
            <a:chExt cx="7223760" cy="83210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223761" cy="8321040"/>
            </a:xfrm>
            <a:custGeom>
              <a:avLst/>
              <a:gdLst/>
              <a:ahLst/>
              <a:cxnLst/>
              <a:rect l="l" t="t" r="r" b="b"/>
              <a:pathLst>
                <a:path w="7223761" h="83210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77456" y="0"/>
                  </a:lnTo>
                  <a:cubicBezTo>
                    <a:pt x="7158228" y="0"/>
                    <a:pt x="7223761" y="65532"/>
                    <a:pt x="7223761" y="146304"/>
                  </a:cubicBezTo>
                  <a:lnTo>
                    <a:pt x="7223761" y="8174736"/>
                  </a:lnTo>
                  <a:cubicBezTo>
                    <a:pt x="7223761" y="8255508"/>
                    <a:pt x="7158228" y="8321040"/>
                    <a:pt x="7077456" y="8321040"/>
                  </a:cubicBezTo>
                  <a:lnTo>
                    <a:pt x="146304" y="8321040"/>
                  </a:lnTo>
                  <a:cubicBezTo>
                    <a:pt x="65532" y="8321040"/>
                    <a:pt x="0" y="8255508"/>
                    <a:pt x="0" y="8174736"/>
                  </a:cubicBezTo>
                  <a:close/>
                </a:path>
              </a:pathLst>
            </a:custGeom>
            <a:solidFill>
              <a:srgbClr val="F7FAFC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2899898" y="3771900"/>
            <a:ext cx="4869180" cy="754380"/>
            <a:chOff x="0" y="0"/>
            <a:chExt cx="6492240" cy="1005840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1005840" cy="1005840"/>
              <a:chOff x="0" y="0"/>
              <a:chExt cx="1005840" cy="100584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005840" cy="1005840"/>
              </a:xfrm>
              <a:custGeom>
                <a:avLst/>
                <a:gdLst/>
                <a:ahLst/>
                <a:cxnLst/>
                <a:rect l="l" t="t" r="r" b="b"/>
                <a:pathLst>
                  <a:path w="1005840" h="1005840">
                    <a:moveTo>
                      <a:pt x="0" y="502920"/>
                    </a:moveTo>
                    <a:cubicBezTo>
                      <a:pt x="0" y="225171"/>
                      <a:pt x="225171" y="0"/>
                      <a:pt x="502920" y="0"/>
                    </a:cubicBezTo>
                    <a:cubicBezTo>
                      <a:pt x="780669" y="0"/>
                      <a:pt x="1005840" y="225171"/>
                      <a:pt x="1005840" y="502920"/>
                    </a:cubicBezTo>
                    <a:cubicBezTo>
                      <a:pt x="1005840" y="780669"/>
                      <a:pt x="780669" y="1005840"/>
                      <a:pt x="502920" y="1005840"/>
                    </a:cubicBezTo>
                    <a:cubicBezTo>
                      <a:pt x="225171" y="1005840"/>
                      <a:pt x="0" y="780669"/>
                      <a:pt x="0" y="502920"/>
                    </a:cubicBezTo>
                    <a:close/>
                  </a:path>
                </a:pathLst>
              </a:custGeom>
              <a:solidFill>
                <a:srgbClr val="1F4457"/>
              </a:solidFill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237744" y="237744"/>
              <a:ext cx="548640" cy="548640"/>
              <a:chOff x="0" y="0"/>
              <a:chExt cx="548640" cy="548640"/>
            </a:xfrm>
          </p:grpSpPr>
          <p:sp>
            <p:nvSpPr>
              <p:cNvPr id="44" name="Freeform 44" descr="preencoded.png"/>
              <p:cNvSpPr/>
              <p:nvPr/>
            </p:nvSpPr>
            <p:spPr>
              <a:xfrm>
                <a:off x="0" y="0"/>
                <a:ext cx="548640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1280160" y="0"/>
              <a:ext cx="5212080" cy="1005840"/>
              <a:chOff x="0" y="0"/>
              <a:chExt cx="5212080" cy="100584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5212080" cy="1005840"/>
              </a:xfrm>
              <a:custGeom>
                <a:avLst/>
                <a:gdLst/>
                <a:ahLst/>
                <a:cxnLst/>
                <a:rect l="l" t="t" r="r" b="b"/>
                <a:pathLst>
                  <a:path w="5212080" h="1005840">
                    <a:moveTo>
                      <a:pt x="0" y="0"/>
                    </a:moveTo>
                    <a:lnTo>
                      <a:pt x="5212080" y="0"/>
                    </a:lnTo>
                    <a:lnTo>
                      <a:pt x="5212080" y="1005840"/>
                    </a:lnTo>
                    <a:lnTo>
                      <a:pt x="0" y="10058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967" b="-50967"/>
                </a:stretch>
              </a:blip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19050"/>
                <a:ext cx="5212080" cy="102489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240"/>
                  </a:lnSpc>
                </a:pPr>
                <a:r>
                  <a:rPr lang="en-US" sz="2700" b="1">
                    <a:solidFill>
                      <a:srgbClr val="1A1A1A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Open Queries</a:t>
                </a:r>
              </a:p>
            </p:txBody>
          </p:sp>
        </p:grpSp>
      </p:grpSp>
      <p:sp>
        <p:nvSpPr>
          <p:cNvPr id="48" name="TextBox 48"/>
          <p:cNvSpPr txBox="1"/>
          <p:nvPr/>
        </p:nvSpPr>
        <p:spPr>
          <a:xfrm>
            <a:off x="13094208" y="4829175"/>
            <a:ext cx="4480560" cy="273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Real anonymized resumes provided, or fully synthetic?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Any preferred cloud/tooling constraints?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Expected evaluation dataset size?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A7A7A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7280" y="-822960"/>
            <a:ext cx="7680960" cy="6309360"/>
            <a:chOff x="0" y="0"/>
            <a:chExt cx="10241280" cy="8412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1280" cy="8412480"/>
            </a:xfrm>
            <a:custGeom>
              <a:avLst/>
              <a:gdLst/>
              <a:ahLst/>
              <a:cxnLst/>
              <a:rect l="l" t="t" r="r" b="b"/>
              <a:pathLst>
                <a:path w="10241280" h="8412480">
                  <a:moveTo>
                    <a:pt x="0" y="8412480"/>
                  </a:moveTo>
                  <a:lnTo>
                    <a:pt x="5120640" y="0"/>
                  </a:lnTo>
                  <a:lnTo>
                    <a:pt x="10241280" y="8412480"/>
                  </a:lnTo>
                  <a:close/>
                </a:path>
              </a:pathLst>
            </a:custGeom>
            <a:solidFill>
              <a:srgbClr val="D9E4EA"/>
            </a:solidFill>
          </p:spPr>
        </p:sp>
      </p:grpSp>
      <p:grpSp>
        <p:nvGrpSpPr>
          <p:cNvPr id="4" name="Group 4"/>
          <p:cNvGrpSpPr/>
          <p:nvPr/>
        </p:nvGrpSpPr>
        <p:grpSpPr>
          <a:xfrm rot="-3600000">
            <a:off x="-1371600" y="-1097280"/>
            <a:ext cx="4389120" cy="4114800"/>
            <a:chOff x="0" y="0"/>
            <a:chExt cx="5852160" cy="548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2160" cy="5486400"/>
            </a:xfrm>
            <a:custGeom>
              <a:avLst/>
              <a:gdLst/>
              <a:ahLst/>
              <a:cxnLst/>
              <a:rect l="l" t="t" r="r" b="b"/>
              <a:pathLst>
                <a:path w="5852160" h="5486400">
                  <a:moveTo>
                    <a:pt x="0" y="5486400"/>
                  </a:moveTo>
                  <a:lnTo>
                    <a:pt x="2926080" y="0"/>
                  </a:lnTo>
                  <a:lnTo>
                    <a:pt x="5852160" y="5486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5400000">
            <a:off x="1234440" y="2194560"/>
            <a:ext cx="2743200" cy="2468880"/>
            <a:chOff x="0" y="0"/>
            <a:chExt cx="3657600" cy="3291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7600" cy="3291840"/>
            </a:xfrm>
            <a:custGeom>
              <a:avLst/>
              <a:gdLst/>
              <a:ahLst/>
              <a:cxnLst/>
              <a:rect l="l" t="t" r="r" b="b"/>
              <a:pathLst>
                <a:path w="3657600" h="3291840">
                  <a:moveTo>
                    <a:pt x="0" y="3291840"/>
                  </a:moveTo>
                  <a:lnTo>
                    <a:pt x="1828800" y="0"/>
                  </a:lnTo>
                  <a:lnTo>
                    <a:pt x="3657600" y="3291840"/>
                  </a:lnTo>
                  <a:close/>
                </a:path>
              </a:pathLst>
            </a:custGeom>
            <a:solidFill>
              <a:srgbClr val="FBE0D3"/>
            </a:solidFill>
          </p:spPr>
        </p:sp>
      </p:grpSp>
      <p:grpSp>
        <p:nvGrpSpPr>
          <p:cNvPr id="8" name="Group 8"/>
          <p:cNvGrpSpPr/>
          <p:nvPr/>
        </p:nvGrpSpPr>
        <p:grpSpPr>
          <a:xfrm rot="2400000">
            <a:off x="-822960" y="3703320"/>
            <a:ext cx="3566160" cy="3017520"/>
            <a:chOff x="0" y="0"/>
            <a:chExt cx="4754880" cy="4023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54880" cy="4023360"/>
            </a:xfrm>
            <a:custGeom>
              <a:avLst/>
              <a:gdLst/>
              <a:ahLst/>
              <a:cxnLst/>
              <a:rect l="l" t="t" r="r" b="b"/>
              <a:pathLst>
                <a:path w="4754880" h="4023360">
                  <a:moveTo>
                    <a:pt x="0" y="4023360"/>
                  </a:moveTo>
                  <a:lnTo>
                    <a:pt x="2377440" y="0"/>
                  </a:lnTo>
                  <a:lnTo>
                    <a:pt x="4754880" y="4023360"/>
                  </a:lnTo>
                  <a:close/>
                </a:path>
              </a:pathLst>
            </a:custGeom>
            <a:solidFill>
              <a:srgbClr val="D9E4E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2579370" y="7433310"/>
            <a:ext cx="5433060" cy="5433060"/>
            <a:chOff x="0" y="0"/>
            <a:chExt cx="7244080" cy="7244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244080" cy="7244080"/>
            </a:xfrm>
            <a:custGeom>
              <a:avLst/>
              <a:gdLst/>
              <a:ahLst/>
              <a:cxnLst/>
              <a:rect l="l" t="t" r="r" b="b"/>
              <a:pathLst>
                <a:path w="7244080" h="7244080">
                  <a:moveTo>
                    <a:pt x="0" y="3622040"/>
                  </a:moveTo>
                  <a:cubicBezTo>
                    <a:pt x="0" y="1621663"/>
                    <a:pt x="1621663" y="0"/>
                    <a:pt x="3622040" y="0"/>
                  </a:cubicBezTo>
                  <a:cubicBezTo>
                    <a:pt x="5622417" y="0"/>
                    <a:pt x="7244080" y="1621663"/>
                    <a:pt x="7244080" y="3622040"/>
                  </a:cubicBezTo>
                  <a:cubicBezTo>
                    <a:pt x="7244080" y="5622417"/>
                    <a:pt x="5622417" y="7244080"/>
                    <a:pt x="3622040" y="7244080"/>
                  </a:cubicBezTo>
                  <a:cubicBezTo>
                    <a:pt x="1621663" y="7244080"/>
                    <a:pt x="0" y="5622417"/>
                    <a:pt x="0" y="362204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  <a:ln w="495300" cap="sq">
              <a:solidFill>
                <a:srgbClr val="F15A24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5887243" y="0"/>
            <a:ext cx="2400300" cy="8161020"/>
            <a:chOff x="0" y="0"/>
            <a:chExt cx="3200400" cy="10881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00400" cy="10881360"/>
            </a:xfrm>
            <a:custGeom>
              <a:avLst/>
              <a:gdLst/>
              <a:ahLst/>
              <a:cxnLst/>
              <a:rect l="l" t="t" r="r" b="b"/>
              <a:pathLst>
                <a:path w="3200400" h="10881360">
                  <a:moveTo>
                    <a:pt x="0" y="0"/>
                  </a:moveTo>
                  <a:lnTo>
                    <a:pt x="3200400" y="0"/>
                  </a:lnTo>
                  <a:lnTo>
                    <a:pt x="3200400" y="10881360"/>
                  </a:lnTo>
                  <a:lnTo>
                    <a:pt x="0" y="10881360"/>
                  </a:lnTo>
                  <a:close/>
                </a:path>
              </a:pathLst>
            </a:custGeom>
            <a:solidFill>
              <a:srgbClr val="2D5F7C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5475763" y="7749540"/>
            <a:ext cx="1508760" cy="1508760"/>
            <a:chOff x="0" y="0"/>
            <a:chExt cx="2011680" cy="20116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11680" cy="2011680"/>
            </a:xfrm>
            <a:custGeom>
              <a:avLst/>
              <a:gdLst/>
              <a:ahLst/>
              <a:cxnLst/>
              <a:rect l="l" t="t" r="r" b="b"/>
              <a:pathLst>
                <a:path w="2011680" h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F15A2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6339871" y="3566160"/>
            <a:ext cx="1508760" cy="1508760"/>
            <a:chOff x="0" y="0"/>
            <a:chExt cx="2011680" cy="201168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2011680" cy="2011680"/>
            </a:xfrm>
            <a:custGeom>
              <a:avLst/>
              <a:gdLst/>
              <a:ahLst/>
              <a:cxnLst/>
              <a:rect l="l" t="t" r="r" b="b"/>
              <a:pathLst>
                <a:path w="2011680" h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822960" y="3703320"/>
            <a:ext cx="12344400" cy="1508760"/>
            <a:chOff x="0" y="0"/>
            <a:chExt cx="16459200" cy="20116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459200" cy="2011680"/>
            </a:xfrm>
            <a:custGeom>
              <a:avLst/>
              <a:gdLst/>
              <a:ahLst/>
              <a:cxnLst/>
              <a:rect l="l" t="t" r="r" b="b"/>
              <a:pathLst>
                <a:path w="16459200" h="2011680">
                  <a:moveTo>
                    <a:pt x="0" y="0"/>
                  </a:moveTo>
                  <a:lnTo>
                    <a:pt x="16459200" y="0"/>
                  </a:lnTo>
                  <a:lnTo>
                    <a:pt x="16459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423" b="-109423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6459200" cy="20593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000"/>
                </a:lnSpc>
              </a:pPr>
              <a:r>
                <a:rPr lang="en-US" sz="750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22960" y="6446520"/>
            <a:ext cx="8229600" cy="809281"/>
            <a:chOff x="0" y="0"/>
            <a:chExt cx="10972800" cy="107904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972800" cy="1079041"/>
            </a:xfrm>
            <a:custGeom>
              <a:avLst/>
              <a:gdLst/>
              <a:ahLst/>
              <a:cxnLst/>
              <a:rect l="l" t="t" r="r" b="b"/>
              <a:pathLst>
                <a:path w="10972800" h="1079041">
                  <a:moveTo>
                    <a:pt x="0" y="0"/>
                  </a:moveTo>
                  <a:lnTo>
                    <a:pt x="10972800" y="0"/>
                  </a:lnTo>
                  <a:lnTo>
                    <a:pt x="10972800" y="1079041"/>
                  </a:lnTo>
                  <a:lnTo>
                    <a:pt x="0" y="10790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8484" b="-12780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0972800" cy="10980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Name: Bit&amp;Byte</a:t>
              </a:r>
            </a:p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ID : 44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643</Words>
  <Application>Microsoft Office PowerPoint</Application>
  <PresentationFormat>Custom</PresentationFormat>
  <Paragraphs>151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 Bold</vt:lpstr>
      <vt:lpstr>Arial</vt:lpstr>
      <vt:lpstr>Arial Italics</vt:lpstr>
      <vt:lpstr>Courier New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KDAC-2_Presentation (1).pptx</dc:title>
  <dc:creator>Shubham Dubal</dc:creator>
  <cp:lastModifiedBy>Tirth goti</cp:lastModifiedBy>
  <cp:revision>5</cp:revision>
  <dcterms:created xsi:type="dcterms:W3CDTF">2006-08-16T00:00:00Z</dcterms:created>
  <dcterms:modified xsi:type="dcterms:W3CDTF">2026-08-25T06:52:58Z</dcterms:modified>
  <dc:identifier>DAHS551X6pk</dc:identifier>
</cp:coreProperties>
</file>